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15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44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cholar.google.com/citations?user=IaFEAbsAAAAJ&amp;hl=en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google/company-news/inside-google/message-ceo/alphabet-earnings-q2-2025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echcrunch.com/2025/07/30/github-copilot-crosses-20-million-all-time-users/" TargetMode="Externa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ai.stanford.edu/news/inside-the-ai-index-12-takeaways-from-the-2026-report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nber.org/papers/w33795" TargetMode="Externa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-strategy.ec.europa.eu/en/news/learn-more-about-guidelines-providers-general-purpose-ai-models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reuters.com/legal/litigation/anthropic-wins-key-ruling-ai-authors-copyright-lawsuit-2025-06-24/" TargetMode="External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mwf.int/en/about/media-centre/news/2025/ecmwfs-ai-forecasts-become-operational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mc.ncbi.nlm.nih.gov/articles/PMC12507698/" TargetMode="External"/><Relationship Id="rId4" Type="http://schemas.openxmlformats.org/officeDocument/2006/relationships/image" Target="../media/image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da.gov/medical-devices/digital-health-center-excellence/artificial-intelligence-enabled-medical-devices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ubmed.ncbi.nlm.nih.gov/41620232/" TargetMode="External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wresearch.org/internet/2026/02/24/how-teens-use-and-view-ai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openknowledge.worldbank.org/entities/publication/15e1ff08-15ae-4f7a-b2a8-d146e6c113ee" TargetMode="External"/><Relationship Id="rId4" Type="http://schemas.openxmlformats.org/officeDocument/2006/relationships/image" Target="../media/image1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monsensemedia.org/press-releases/nearly-3-in-4-teens-have-used-ai-companions-new-national-survey-finds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reuters.com/fact-check/video-iran-missile-barrage-tel-aviv-is-ai-generated-say-experts-2026-03-10/" TargetMode="External"/><Relationship Id="rId4" Type="http://schemas.openxmlformats.org/officeDocument/2006/relationships/image" Target="../media/image1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news/disrupting-AI-espionage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reuters.com/business/aerospace-defense/ukrainian-drone-pilots-look-ai-battlefield-edge-2025-11-29/" TargetMode="External"/><Relationship Id="rId4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crif.org/ccrif-provides-ngo-us25000-make-ai-app-letzfarm-available-small-farmers-across-trinidad-and-tobago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tatic.pib.gov.in/WriteReadData/specificdocs/documents/2025/sep/doc202594627701.pdf" TargetMode="External"/><Relationship Id="rId4" Type="http://schemas.openxmlformats.org/officeDocument/2006/relationships/image" Target="../media/image22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health.gov.gy/wp-content/uploads/2025/05/Newsletter-for-March-2025.pdf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pib.gov.in/PressNoteDetails.aspx?NoteId=157923&amp;ModuleId=3&amp;reg=3&amp;lang=2" TargetMode="External"/><Relationship Id="rId4" Type="http://schemas.openxmlformats.org/officeDocument/2006/relationships/image" Target="../media/image2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dp.org/jamaica/press-releases/more-48-million-tonnes-debris-left-hurricane-melissa-across-western-jamaica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blog.google/innovation-and-ai/products/advanced-flood-hub-features-for-aid-organizations-and-governments/" TargetMode="Externa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igovtt.tt/meet-anansi-a-smarter-simpler-way-to-connect-with-government-services/" TargetMode="Externa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gov.br/gestao/pt-br/assuntos/noticias/2026/janeiro/governo-do-brasil-orienta-estudantes-sobre-resultado-do-enem-pela-caixa-postal-gov.br" TargetMode="External"/><Relationship Id="rId4" Type="http://schemas.openxmlformats.org/officeDocument/2006/relationships/image" Target="../media/image28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pi.gov.gy/harnessing-ai-for-the-planet-guyanas-forest-innovation-takes-the-stage-at-cop30/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brasil.mapbiomas.org/wp-content/uploads/sites/4/2025/08/ATBD-Collection-10-v1.pdf" TargetMode="External"/><Relationship Id="rId4" Type="http://schemas.openxmlformats.org/officeDocument/2006/relationships/image" Target="../media/image30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jis.gov.jm/ai-pilot-in-several-schools-to-mark-papers/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openknowledge.worldbank.org/entities/publication/15e1ff08-15ae-4f7a-b2a8-d146e6c113ee" TargetMode="External"/><Relationship Id="rId4" Type="http://schemas.openxmlformats.org/officeDocument/2006/relationships/image" Target="../media/image13.jp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eas.europa.eu/sites/default/files/2025/documents/Final%20Report_EUEOMGuyana2025.pdf" TargetMode="Externa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fcc.gov/public/attachments/DOC-405811A1.pdf" TargetMode="External"/><Relationship Id="rId4" Type="http://schemas.openxmlformats.org/officeDocument/2006/relationships/image" Target="../media/image33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ic.gov.jm/ai-to-reshape-not-displace-bpo-workforce/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elibrary.imf.org/view/journals/001/2025/043/article-A001-en.xml" TargetMode="External"/><Relationship Id="rId4" Type="http://schemas.openxmlformats.org/officeDocument/2006/relationships/image" Target="../media/image35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parliament.gov.gy/publications/acts-of-parliament/dataprotectionact18of2023" TargetMode="External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cloudcarib.com/2026/03/09/cloud-carib-signals-major-regional-commitment/" TargetMode="External"/><Relationship Id="rId4" Type="http://schemas.openxmlformats.org/officeDocument/2006/relationships/image" Target="../media/image37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07.16834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aclu.org/press-releases/after-third-wrongful-arrest-aclu-slams-detroit-police-department-for-continuing-to-use-faulty-facial-recognition-technology" TargetMode="External"/><Relationship Id="rId4" Type="http://schemas.openxmlformats.org/officeDocument/2006/relationships/image" Target="../media/image39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knowledge.worldbank.org/server/api/core/bitstreams/0f4d6df3-bfa2-48fd-b12f-80581ca89f4b/content" TargetMode="External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openknowledge.worldbank.org/server/api/core/bitstreams/d52c2c9e-0bfe-4574-83d1-f6f6e78140cf/content" TargetMode="External"/><Relationship Id="rId4" Type="http://schemas.openxmlformats.org/officeDocument/2006/relationships/image" Target="../media/image5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ecd.org/en/publications/health-at-a-glance-latin-america-and-the-caribbean-2026_445b3259-en/full-report/stock-of-migrant-doctors-and-nurses-to-oecd-countries_917fb074.html" TargetMode="External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48640" cy="9144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548640" cy="91440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11680" y="1828800"/>
            <a:ext cx="548640" cy="9144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CD116"/>
                </a:solidFill>
                <a:latin typeface="Calibri"/>
              </a:rPr>
              <a:t>MAI 5100</a:t>
            </a:r>
          </a:p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Fundamentals of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515600" cy="8463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 dirty="0">
                <a:solidFill>
                  <a:srgbClr val="FFFFFF"/>
                </a:solidFill>
                <a:latin typeface="Calibri"/>
              </a:rPr>
              <a:t>Week 1: Introduction to AI</a:t>
            </a:r>
          </a:p>
          <a:p>
            <a:pPr algn="l">
              <a:spcAft>
                <a:spcPts val="600"/>
              </a:spcAft>
            </a:pPr>
            <a:r>
              <a:rPr sz="1800" b="0" i="0" dirty="0">
                <a:solidFill>
                  <a:srgbClr val="FCD116"/>
                </a:solidFill>
                <a:latin typeface="Calibri"/>
              </a:rPr>
              <a:t>Dr. Christopher Clarke  ·  University of Guyana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Welcome and introductions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What is AI?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 Real-world impact, definitions, computational rationality, perspectives on intelligence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A short history of AI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 and the patterns it reveals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AI in Guyana and the Caribbean: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 opportunities, risks, and open questions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This course: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 designing rational agents, course topics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Logistics: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 schedule, assessment, submissions, generative AI policy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fil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885355" y="1463040"/>
            <a:ext cx="2574359" cy="32400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8521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About 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760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A41"/>
                </a:solidFill>
                <a:latin typeface="Calibri"/>
              </a:rPr>
              <a:t>Dr. Christopher Clarke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760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PhD &amp; MS, Computer Science, U. of Michigan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BSc, University of Guyana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Engineering Lead, AI Core Engineering, Center for Advanced AI at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Accenture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Director, V75 Inc. and Nexus Hub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5760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09E49"/>
                </a:solidFill>
                <a:latin typeface="Calibri"/>
              </a:rPr>
              <a:t>christopher.clarke@uog.edu.gy  ·  csclarke.com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My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B2A41"/>
                </a:solidFill>
                <a:latin typeface="Calibri"/>
              </a:rPr>
              <a:t>Current research and engineering focus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3429000" cy="1920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009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9E49"/>
                </a:solidFill>
                <a:latin typeface="Calibri"/>
              </a:rPr>
              <a:t>Large-scale LLM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306324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Serving large models efficiently, reliably, and at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429000" cy="1920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395728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Calibri"/>
              </a:rPr>
              <a:t>Agentic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80360"/>
            <a:ext cx="306324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AI systems that plan, use tools, and take multi-step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429000" cy="1920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395728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E1126"/>
                </a:solidFill>
                <a:latin typeface="Calibri"/>
              </a:rPr>
              <a:t>Human-AI 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80360"/>
            <a:ext cx="306324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How people work with, trust, and are affected by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058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Calibri"/>
              </a:rPr>
              <a:t>Publications: </a:t>
            </a:r>
            <a:r>
              <a:rPr sz="2000" b="0" i="0">
                <a:solidFill>
                  <a:srgbClr val="009E49"/>
                </a:solidFill>
                <a:latin typeface="Calibri"/>
                <a:hlinkClick r:id="rId2"/>
              </a:rPr>
              <a:t>Google Scholar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Your Turn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5F6B7A"/>
                </a:solidFill>
                <a:latin typeface="Calibri"/>
              </a:rPr>
              <a:t>About 60 seconds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600" b="0" i="0">
                <a:solidFill>
                  <a:srgbClr val="1B2A41"/>
                </a:solidFill>
                <a:latin typeface="Calibri"/>
              </a:rPr>
              <a:t>Your name and background</a:t>
            </a:r>
          </a:p>
          <a:p>
            <a:pPr>
              <a:spcAft>
                <a:spcPts val="800"/>
              </a:spcAft>
            </a:pPr>
            <a:r>
              <a:rPr sz="26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600" b="0" i="0">
                <a:solidFill>
                  <a:srgbClr val="1B2A41"/>
                </a:solidFill>
                <a:latin typeface="Calibri"/>
              </a:rPr>
              <a:t>Why are you interested in AI?</a:t>
            </a:r>
          </a:p>
          <a:p>
            <a:pPr>
              <a:spcAft>
                <a:spcPts val="800"/>
              </a:spcAft>
            </a:pPr>
            <a:r>
              <a:rPr sz="26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600" b="1" i="0">
                <a:solidFill>
                  <a:srgbClr val="1B2A41"/>
                </a:solidFill>
                <a:latin typeface="Calibri"/>
              </a:rPr>
              <a:t>Icebreaker:</a:t>
            </a:r>
            <a:r>
              <a:rPr sz="2600" b="0" i="0">
                <a:solidFill>
                  <a:srgbClr val="1B2A41"/>
                </a:solidFill>
                <a:latin typeface="Calibri"/>
              </a:rPr>
              <a:t> What AI tool did you use this week, and did it get something wrong?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Where Are You Starting From?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600" b="0" i="0">
                <a:solidFill>
                  <a:srgbClr val="1B2A41"/>
                </a:solidFill>
                <a:latin typeface="Calibri"/>
              </a:rPr>
              <a:t>How comfortable are you writing Python?</a:t>
            </a:r>
          </a:p>
          <a:p>
            <a:pPr>
              <a:spcAft>
                <a:spcPts val="800"/>
              </a:spcAft>
            </a:pPr>
            <a:r>
              <a:rPr sz="26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600" b="0" i="0">
                <a:solidFill>
                  <a:srgbClr val="1B2A41"/>
                </a:solidFill>
                <a:latin typeface="Calibri"/>
              </a:rPr>
              <a:t>Have you seen probability before (conditional probability, Bayes' rule)?</a:t>
            </a:r>
          </a:p>
          <a:p>
            <a:pPr>
              <a:spcAft>
                <a:spcPts val="800"/>
              </a:spcAft>
            </a:pPr>
            <a:r>
              <a:rPr sz="26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600" b="0" i="0">
                <a:solidFill>
                  <a:srgbClr val="1B2A41"/>
                </a:solidFill>
                <a:latin typeface="Calibri"/>
              </a:rPr>
              <a:t>Have you used Git and GitHub?</a:t>
            </a:r>
          </a:p>
          <a:p>
            <a:pPr>
              <a:spcAft>
                <a:spcPts val="800"/>
              </a:spcAft>
            </a:pPr>
            <a:r>
              <a:rPr sz="26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600" b="0" i="0">
                <a:solidFill>
                  <a:srgbClr val="1B2A41"/>
                </a:solidFill>
                <a:latin typeface="Calibri"/>
              </a:rPr>
              <a:t>Have you trained or fine-tuned a machine learning model?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188720"/>
          </a:xfrm>
          <a:prstGeom prst="rect">
            <a:avLst/>
          </a:prstGeom>
          <a:noFill/>
        </p:spPr>
        <p:txBody>
          <a:bodyPr wrap="square" lIns="45720" rIns="4572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What is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FCD116"/>
                </a:solidFill>
                <a:latin typeface="Calibri"/>
              </a:rPr>
              <a:t>From headlines to a working definition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72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400" b="1" i="0">
                <a:solidFill>
                  <a:srgbClr val="1B2A41"/>
                </a:solidFill>
                <a:latin typeface="Calibri"/>
              </a:rPr>
              <a:t>What is AI?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32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03504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400" b="1" i="0">
                <a:solidFill>
                  <a:srgbClr val="1B2A41"/>
                </a:solidFill>
                <a:latin typeface="Calibri"/>
              </a:rPr>
              <a:t>“The science and engineering of making intelligent machines.”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5F6B7A"/>
                </a:solidFill>
                <a:latin typeface="Calibri"/>
              </a:rPr>
              <a:t>John McCarthy, who coined the term “artificial intelligence” (1956)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6035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000" b="1" i="0">
                <a:solidFill>
                  <a:srgbClr val="009E49"/>
                </a:solidFill>
                <a:latin typeface="Calibri"/>
              </a:rPr>
              <a:t>A working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60350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900" b="0" i="0">
                <a:solidFill>
                  <a:srgbClr val="1B2A41"/>
                </a:solidFill>
                <a:latin typeface="Calibri"/>
              </a:rPr>
              <a:t>Building computer systems that </a:t>
            </a:r>
            <a:r>
              <a:rPr sz="1900" b="1" i="0">
                <a:solidFill>
                  <a:srgbClr val="1B2A41"/>
                </a:solidFill>
                <a:latin typeface="Calibri"/>
              </a:rPr>
              <a:t>perceive</a:t>
            </a:r>
            <a:r>
              <a:rPr sz="1900" b="0" i="0">
                <a:solidFill>
                  <a:srgbClr val="1B2A41"/>
                </a:solidFill>
                <a:latin typeface="Calibri"/>
              </a:rPr>
              <a:t> their environment, </a:t>
            </a:r>
            <a:r>
              <a:rPr sz="1900" b="1" i="0">
                <a:solidFill>
                  <a:srgbClr val="1B2A41"/>
                </a:solidFill>
                <a:latin typeface="Calibri"/>
              </a:rPr>
              <a:t>reason</a:t>
            </a:r>
            <a:r>
              <a:rPr sz="1900" b="0" i="0">
                <a:solidFill>
                  <a:srgbClr val="1B2A41"/>
                </a:solidFill>
                <a:latin typeface="Calibri"/>
              </a:rPr>
              <a:t> about it, </a:t>
            </a:r>
            <a:r>
              <a:rPr sz="1900" b="1" i="0">
                <a:solidFill>
                  <a:srgbClr val="1B2A41"/>
                </a:solidFill>
                <a:latin typeface="Calibri"/>
              </a:rPr>
              <a:t>learn</a:t>
            </a:r>
            <a:r>
              <a:rPr sz="1900" b="0" i="0">
                <a:solidFill>
                  <a:srgbClr val="1B2A41"/>
                </a:solidFill>
                <a:latin typeface="Calibri"/>
              </a:rPr>
              <a:t> from experience, and </a:t>
            </a:r>
            <a:r>
              <a:rPr sz="1900" b="1" i="0">
                <a:solidFill>
                  <a:srgbClr val="1B2A41"/>
                </a:solidFill>
                <a:latin typeface="Calibri"/>
              </a:rPr>
              <a:t>act</a:t>
            </a:r>
            <a:r>
              <a:rPr sz="1900" b="0" i="0">
                <a:solidFill>
                  <a:srgbClr val="1B2A41"/>
                </a:solidFill>
                <a:latin typeface="Calibri"/>
              </a:rPr>
              <a:t> to achieve goals, doing tasks that normally require human intelligence.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603504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B2A41"/>
                </a:solidFill>
                <a:latin typeface="Calibri"/>
              </a:rPr>
              <a:t>AI does not have to be </a:t>
            </a:r>
            <a:r>
              <a:rPr sz="1700" b="1" i="0">
                <a:solidFill>
                  <a:srgbClr val="1B2A41"/>
                </a:solidFill>
                <a:latin typeface="Calibri"/>
              </a:rPr>
              <a:t>human-like</a:t>
            </a:r>
            <a:r>
              <a:rPr sz="1700" b="0" i="0">
                <a:solidFill>
                  <a:srgbClr val="1B2A41"/>
                </a:solidFill>
                <a:latin typeface="Calibri"/>
              </a:rPr>
              <a:t>: a chess engine, a spam filter, and a chatbot are all AI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B2A41"/>
                </a:solidFill>
                <a:latin typeface="Calibri"/>
              </a:rPr>
              <a:t>AI is </a:t>
            </a:r>
            <a:r>
              <a:rPr sz="1700" b="1" i="0">
                <a:solidFill>
                  <a:srgbClr val="1B2A41"/>
                </a:solidFill>
                <a:latin typeface="Calibri"/>
              </a:rPr>
              <a:t>broader than ChatGPT</a:t>
            </a:r>
            <a:r>
              <a:rPr sz="1700" b="0" i="0">
                <a:solidFill>
                  <a:srgbClr val="1B2A41"/>
                </a:solidFill>
                <a:latin typeface="Calibri"/>
              </a:rPr>
              <a:t>: search, planning, reasoning, and learning are all part of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463040"/>
            <a:ext cx="4572000" cy="4434840"/>
          </a:xfrm>
          <a:prstGeom prst="roundRect">
            <a:avLst>
              <a:gd name="adj" fmla="val 12000"/>
            </a:avLst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6600" y="1536192"/>
            <a:ext cx="43891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Artificial Intelligence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Systems that perceive, reason, and 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1" y="2514600"/>
            <a:ext cx="3749039" cy="3383280"/>
          </a:xfrm>
          <a:prstGeom prst="roundRect">
            <a:avLst>
              <a:gd name="adj" fmla="val 12000"/>
            </a:avLst>
          </a:prstGeom>
          <a:solidFill>
            <a:srgbClr val="2E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1" y="2587752"/>
            <a:ext cx="3566159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Machine Learning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Learn patterns from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566160"/>
            <a:ext cx="2926080" cy="2331720"/>
          </a:xfrm>
          <a:prstGeom prst="roundRect">
            <a:avLst>
              <a:gd name="adj" fmla="val 12000"/>
            </a:avLst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3639312"/>
            <a:ext cx="27432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Deep Learning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Many-layered neural networks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617720"/>
            <a:ext cx="2103120" cy="1280160"/>
          </a:xfrm>
          <a:prstGeom prst="roundRect">
            <a:avLst>
              <a:gd name="adj" fmla="val 12000"/>
            </a:avLst>
          </a:prstGeom>
          <a:solidFill>
            <a:srgbClr val="E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4690872"/>
            <a:ext cx="19202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1B2A41"/>
                </a:solidFill>
                <a:latin typeface="Calibri"/>
              </a:rPr>
              <a:t>Generative AI &amp; LLMs</a:t>
            </a:r>
          </a:p>
          <a:p>
            <a:pPr algn="ctr"/>
            <a:r>
              <a:rPr sz="1100" b="0" i="0">
                <a:solidFill>
                  <a:srgbClr val="1B2A41"/>
                </a:solidFill>
                <a:latin typeface="Calibri"/>
              </a:rPr>
              <a:t>Create text, images,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 i="0">
                <a:solidFill>
                  <a:srgbClr val="5F6B7A"/>
                </a:solidFill>
                <a:latin typeface="Calibri"/>
              </a:rPr>
              <a:t>In this course we take the </a:t>
            </a:r>
            <a:r>
              <a:rPr sz="1500" b="1" i="0">
                <a:solidFill>
                  <a:srgbClr val="5F6B7A"/>
                </a:solidFill>
                <a:latin typeface="Calibri"/>
              </a:rPr>
              <a:t>rational agent</a:t>
            </a:r>
            <a:r>
              <a:rPr sz="1500" b="0" i="0">
                <a:solidFill>
                  <a:srgbClr val="5F6B7A"/>
                </a:solidFill>
                <a:latin typeface="Calibri"/>
              </a:rPr>
              <a:t> view: an agent perceives its environment and acts to maximize its expected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AI Is Having Real-World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009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18488"/>
            <a:ext cx="2240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9E49"/>
                </a:solidFill>
                <a:latin typeface="Calibri"/>
              </a:rPr>
              <a:t>Everyday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2402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A41"/>
                </a:solidFill>
                <a:latin typeface="Calibri"/>
              </a:rPr>
              <a:t>Text assistants, search, coding, translation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0876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618488"/>
            <a:ext cx="2240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B2A41"/>
                </a:solidFill>
                <a:latin typeface="Calibri"/>
              </a:rPr>
              <a:t>Economy &amp; labor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03120"/>
            <a:ext cx="22402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A41"/>
                </a:solidFill>
                <a:latin typeface="Calibri"/>
              </a:rPr>
              <a:t>Investment, productivity, changing jobs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0876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618488"/>
            <a:ext cx="2240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E1126"/>
                </a:solidFill>
                <a:latin typeface="Calibri"/>
              </a:rPr>
              <a:t>Politics &amp; 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03120"/>
            <a:ext cx="22402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A41"/>
                </a:solidFill>
                <a:latin typeface="Calibri"/>
              </a:rPr>
              <a:t>Regulation, elections, copyright, liability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50876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009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1618488"/>
            <a:ext cx="2240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9E49"/>
                </a:solidFill>
                <a:latin typeface="Calibri"/>
              </a:rPr>
              <a:t>Science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103120"/>
            <a:ext cx="22402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A41"/>
                </a:solidFill>
                <a:latin typeface="Calibri"/>
              </a:rPr>
              <a:t>Protein structure, materials, climate, conservation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4904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858768"/>
            <a:ext cx="2240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B2A41"/>
                </a:solidFill>
                <a:latin typeface="Calibri"/>
              </a:rPr>
              <a:t>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402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A41"/>
                </a:solidFill>
                <a:latin typeface="Calibri"/>
              </a:rPr>
              <a:t>Diagnosis support, triage, people seeking health advice from chatbots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374904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0" y="3858768"/>
            <a:ext cx="2240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E1126"/>
                </a:solidFill>
                <a:latin typeface="Calibri"/>
              </a:rPr>
              <a:t>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343400"/>
            <a:ext cx="22402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A41"/>
                </a:solidFill>
                <a:latin typeface="Calibri"/>
              </a:rPr>
              <a:t>Tutoring, assessment, and how students learn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74904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009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3858768"/>
            <a:ext cx="2240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9E49"/>
                </a:solidFill>
                <a:latin typeface="Calibri"/>
              </a:rPr>
              <a:t>Social life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343400"/>
            <a:ext cx="22402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A41"/>
                </a:solidFill>
                <a:latin typeface="Calibri"/>
              </a:rPr>
              <a:t>Companionship, content feeds, misinformation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374904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52560" y="3858768"/>
            <a:ext cx="2240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B2A41"/>
                </a:solidFill>
                <a:latin typeface="Calibri"/>
              </a:rPr>
              <a:t>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343400"/>
            <a:ext cx="22402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A41"/>
                </a:solidFill>
                <a:latin typeface="Calibri"/>
              </a:rPr>
              <a:t>Cyberattacks, surveillance, military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AI Impact: Everyday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ool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36" y="1417320"/>
            <a:ext cx="4471928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Google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9E49"/>
                </a:solidFill>
                <a:latin typeface="Calibri"/>
              </a:rPr>
              <a:t>2B+ monthly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Google reported that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AI Overviews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in Search had more than 2 billion monthly users (July 2025).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Alphabet Q2 2025 earnings remarks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tool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10" y="1417320"/>
            <a:ext cx="3771900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Getty Images via TechCrunch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9E49"/>
                </a:solidFill>
                <a:latin typeface="Calibri"/>
              </a:rPr>
              <a:t>20M+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GitHub Copilot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, an AI coding assistant, passed 20 million all-time users (July 2025).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TechCrunch, Jul 30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AI Impact: Economy &amp; Labor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con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02" y="1417320"/>
            <a:ext cx="4728596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Chart: Stanford HAI, 2026 AI Index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Calibri"/>
              </a:rPr>
              <a:t>$344.7B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Global private investment in AI in 2025, up 127.5% from 2024. The US accounted for the large majority.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Stanford HAI AI Index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econ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914" y="1417320"/>
            <a:ext cx="3786691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BalticServers.com / Wikimedia Commons, CC BY-SA 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Calibri"/>
              </a:rPr>
              <a:t>~2 hrs/week less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In a randomized trial of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7,137 knowledge workers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across 66 firms, workers who used Microsoft 365 Copilot spent about two fewer hours a week on email.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NBER Working Paper 33795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AI Impact: Politics &amp; Law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aw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48" y="1417320"/>
            <a:ext cx="4453904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Diliff / Wikimedia Commons, CC BY-SA 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E1126"/>
                </a:solidFill>
                <a:latin typeface="Calibri"/>
              </a:rPr>
              <a:t>Aug 2,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EU AI Act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obligations began applying to providers of general-purpose AI models, including transparency and copyright requirements.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European Commission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aw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292" y="1417320"/>
            <a:ext cx="1593935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H. Zell / Wikimedia Commons, CC BY-SA 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E1126"/>
                </a:solidFill>
                <a:latin typeface="Calibri"/>
              </a:rPr>
              <a:t>7M+ pirated books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A US judge ruled that training Claude on books was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fair use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, but that Anthropic's storage of millions of pirated books was not (June 2025).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Reuters, Jun 24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AI Impact: Science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i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792" y="1417320"/>
            <a:ext cx="3633815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Graphic: ECMWF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9E49"/>
                </a:solidFill>
                <a:latin typeface="Calibri"/>
              </a:rPr>
              <a:t>~1,000x less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The European weather centre's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AI forecasting system (AIFS)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became operational, cutting energy use per forecast by about 1,000 times (Feb 2025).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ECMWF, Feb 25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ci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018" y="1417320"/>
            <a:ext cx="2282483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Figure: Pacesa et al., Nature (2025), CC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9E49"/>
                </a:solidFill>
                <a:latin typeface="Calibri"/>
              </a:rPr>
              <a:t>46.3% success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BindCraft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used AI to design protein binders, averaging a 46.3% experimental success rate across 12 targets (Nature, 2025).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Pacesa et al., Nature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AI Impact: Health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ealt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1417320"/>
            <a:ext cx="4470400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U.S. FDA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Calibri"/>
              </a:rPr>
              <a:t>1,600+ devices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The US FDA has authorized more than 1,600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AI-enabled medical devices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for marketing (as of Sept 2026). Authorization does not by itself prove clinical benefit.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U.S. FDA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ealth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10" y="1417320"/>
            <a:ext cx="3771900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National Cancer Institute / Wikimedia Commons, public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Calibri"/>
              </a:rPr>
              <a:t>80.5% vs 73.8%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Sensitivity of AI-supported mammography vs. standard double reading in the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MASAI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randomized trial of ~106,000 women in Sweden, with the same specificity.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Gommers et al., The Lancet, Jan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AI Impact: Education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du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20" y="1417320"/>
            <a:ext cx="2346960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Chart: Pew Research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E1126"/>
                </a:solidFill>
                <a:latin typeface="Calibri"/>
              </a:rPr>
              <a:t>54% of US teens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More than half of US teens say they have used AI chatbots to help with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schoolwork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(Pew survey, Sept-Oct 2025).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Pew Research Center, Feb 24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edu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31816"/>
            <a:ext cx="5349240" cy="188560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World 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E1126"/>
                </a:solidFill>
                <a:latin typeface="Calibri"/>
              </a:rPr>
              <a:t>+0.23 SD in English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A World Bank randomized trial of a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six-week AI tutoring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program in Edo State, Nigeria, found significant gains in English learning.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World Bank, May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AI Impact: Social Life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o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43" y="1417320"/>
            <a:ext cx="4789714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Common Sense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9E49"/>
                </a:solidFill>
                <a:latin typeface="Calibri"/>
              </a:rPr>
              <a:t>72% of US teens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have used an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AI companion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at least once; over half use them at least a few times a month (Common Sense Media, July 2025).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Common Sense Media, Jul 16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oc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893" y="1417320"/>
            <a:ext cx="2052734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AI-generated with Midjourney (2023) / Wikimedia Commons, public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9E49"/>
                </a:solidFill>
                <a:latin typeface="Calibri"/>
              </a:rPr>
              <a:t>5M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An AI-generated video falsely claimed to show missiles striking Tel Aviv. Synthetic media like this image of the Pope spread fast and fool many people.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Reuters Fact Check, Mar 10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AI Impact: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e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43" y="1417320"/>
            <a:ext cx="4789714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Calibri"/>
              </a:rPr>
              <a:t>~30 targets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Anthropic reported that a state-sponsored group used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Claude Code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to run a largely automated cyber-espionage campaign, succeeding in a small number of cases (Nov 2025).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Anthropic, Nov 13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ec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860" y="1417320"/>
            <a:ext cx="3352800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ArmyInform / Wikimedia Commons, CC BY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Calibri"/>
              </a:rPr>
              <a:t>Dozens of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Ukraine has rolled out dozens of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AI-assisted drone guidance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systems, some installed in thousands of drones, while requiring a human to make strike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Reuters, Nov 29 2025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A41"/>
                </a:solidFill>
                <a:latin typeface="Calibri"/>
              </a:rPr>
              <a:t>Where did AI show up in your life this week?</a:t>
            </a:r>
          </a:p>
          <a:p>
            <a:pPr algn="l">
              <a:spcAft>
                <a:spcPts val="600"/>
              </a:spcAft>
            </a:pPr>
            <a:endParaRPr sz="3200" b="1" i="0">
              <a:solidFill>
                <a:srgbClr val="1B2A41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5F6B7A"/>
                </a:solidFill>
                <a:latin typeface="Calibri"/>
              </a:rPr>
              <a:t>Which of those uses would you call "intelligent"? Why?</a:t>
            </a:r>
          </a:p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5F6B7A"/>
                </a:solidFill>
                <a:latin typeface="Calibri"/>
              </a:rPr>
              <a:t>What do they have in common?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What Should We Build?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19</a:t>
            </a:r>
          </a:p>
        </p:txBody>
      </p:sp>
      <p:pic>
        <p:nvPicPr>
          <p:cNvPr id="7" name="Picture 6" descr="four_quadr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12064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645920"/>
            <a:ext cx="5303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B2A41"/>
                </a:solidFill>
                <a:latin typeface="Calibri"/>
              </a:rPr>
              <a:t>Should we make machines that...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600" b="0" i="0">
                <a:solidFill>
                  <a:srgbClr val="1B2A41"/>
                </a:solidFill>
                <a:latin typeface="Calibri"/>
              </a:rPr>
              <a:t>Think like people?</a:t>
            </a:r>
          </a:p>
          <a:p>
            <a:pPr>
              <a:spcAft>
                <a:spcPts val="800"/>
              </a:spcAft>
            </a:pPr>
            <a:r>
              <a:rPr sz="26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600" b="0" i="0">
                <a:solidFill>
                  <a:srgbClr val="1B2A41"/>
                </a:solidFill>
                <a:latin typeface="Calibri"/>
              </a:rPr>
              <a:t>Act like people?</a:t>
            </a:r>
          </a:p>
          <a:p>
            <a:pPr>
              <a:spcAft>
                <a:spcPts val="800"/>
              </a:spcAft>
            </a:pPr>
            <a:r>
              <a:rPr sz="26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600" b="0" i="0">
                <a:solidFill>
                  <a:srgbClr val="1B2A41"/>
                </a:solidFill>
                <a:latin typeface="Calibri"/>
              </a:rPr>
              <a:t>Think rationally?</a:t>
            </a:r>
          </a:p>
          <a:p>
            <a:pPr>
              <a:spcAft>
                <a:spcPts val="800"/>
              </a:spcAft>
            </a:pPr>
            <a:r>
              <a:rPr sz="26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600" b="1" i="0">
                <a:solidFill>
                  <a:srgbClr val="1B2A41"/>
                </a:solidFill>
                <a:latin typeface="Calibri"/>
              </a:rPr>
              <a:t>Act rationally?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53035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F6B7A"/>
                </a:solidFill>
                <a:latin typeface="Calibri"/>
              </a:rPr>
              <a:t>"A computer would deserve to be called intelligent if it could deceive a human into believing that it was human."  Alan Turing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Rational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We use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rational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 in a specific, technical sense:</a:t>
            </a:r>
          </a:p>
          <a:p>
            <a:pPr>
              <a:spcAft>
                <a:spcPts val="400"/>
              </a:spcAft>
            </a:pPr>
            <a:r>
              <a:rPr sz="2200" b="1" i="0">
                <a:solidFill>
                  <a:srgbClr val="5F6B7A"/>
                </a:solidFill>
                <a:latin typeface="Calibri"/>
              </a:rPr>
              <a:t>      –  </a:t>
            </a:r>
            <a:r>
              <a:rPr sz="2200" b="0" i="0">
                <a:solidFill>
                  <a:srgbClr val="5F6B7A"/>
                </a:solidFill>
                <a:latin typeface="Calibri"/>
              </a:rPr>
              <a:t>Rational = maximally achieving pre-defined goals</a:t>
            </a:r>
          </a:p>
          <a:p>
            <a:pPr>
              <a:spcAft>
                <a:spcPts val="400"/>
              </a:spcAft>
            </a:pPr>
            <a:r>
              <a:rPr sz="2200" b="1" i="0">
                <a:solidFill>
                  <a:srgbClr val="5F6B7A"/>
                </a:solidFill>
                <a:latin typeface="Calibri"/>
              </a:rPr>
              <a:t>      –  </a:t>
            </a:r>
            <a:r>
              <a:rPr sz="2200" b="0" i="0">
                <a:solidFill>
                  <a:srgbClr val="5F6B7A"/>
                </a:solidFill>
                <a:latin typeface="Calibri"/>
              </a:rPr>
              <a:t>Goals are expressed as the </a:t>
            </a:r>
            <a:r>
              <a:rPr sz="2200" b="1" i="0">
                <a:solidFill>
                  <a:srgbClr val="5F6B7A"/>
                </a:solidFill>
                <a:latin typeface="Calibri"/>
              </a:rPr>
              <a:t>utility</a:t>
            </a:r>
            <a:r>
              <a:rPr sz="2200" b="0" i="0">
                <a:solidFill>
                  <a:srgbClr val="5F6B7A"/>
                </a:solidFill>
                <a:latin typeface="Calibri"/>
              </a:rPr>
              <a:t> of outcomes</a:t>
            </a:r>
          </a:p>
          <a:p>
            <a:pPr>
              <a:spcAft>
                <a:spcPts val="400"/>
              </a:spcAft>
            </a:pPr>
            <a:r>
              <a:rPr sz="2200" b="1" i="0">
                <a:solidFill>
                  <a:srgbClr val="5F6B7A"/>
                </a:solidFill>
                <a:latin typeface="Calibri"/>
              </a:rPr>
              <a:t>      –  </a:t>
            </a:r>
            <a:r>
              <a:rPr sz="2200" b="0" i="0">
                <a:solidFill>
                  <a:srgbClr val="5F6B7A"/>
                </a:solidFill>
                <a:latin typeface="Calibri"/>
              </a:rPr>
              <a:t>The world is uncertain, so we use </a:t>
            </a:r>
            <a:r>
              <a:rPr sz="2200" b="1" i="0">
                <a:solidFill>
                  <a:srgbClr val="5F6B7A"/>
                </a:solidFill>
                <a:latin typeface="Calibri"/>
              </a:rPr>
              <a:t>expected utility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Being rational means acting to maximize your expected utility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005840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A better title for this course might be: </a:t>
            </a:r>
            <a:r>
              <a:rPr sz="2200" b="1" i="0">
                <a:solidFill>
                  <a:srgbClr val="FCD116"/>
                </a:solidFill>
                <a:latin typeface="Calibri"/>
              </a:rPr>
              <a:t>Computational Rationality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Perspectives on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009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18488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9E49"/>
                </a:solidFill>
                <a:latin typeface="Calibri"/>
              </a:rPr>
              <a:t>Skills-based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502920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"A system is intelligent only if it can do X."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Play chess? Learn from experience? Use words properly? Never make mistakes?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618488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Calibri"/>
              </a:rPr>
              <a:t>Embodiment (Rodney Brooks)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502920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Intelligence emerges from a body acting in the physical world, not from abstract reasoning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904488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E1126"/>
                </a:solidFill>
                <a:latin typeface="Calibri"/>
              </a:rPr>
              <a:t>Psychometric (Francois Chollet)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502920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Measure abilities, not skills: how well a system handles tasks that neither it nor its developers saw before.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9476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009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3904488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9E49"/>
                </a:solidFill>
                <a:latin typeface="Calibri"/>
              </a:rPr>
              <a:t>Human-compatible (Stuart Russell)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389120"/>
            <a:ext cx="502920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1. The machine's objective is to maximize human utility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2. It is initially uncertain about human preferences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3. It learns those preferences from human behavior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Is Generality Required?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66960" cy="310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B2A41"/>
                </a:solidFill>
                <a:latin typeface="Calibri"/>
              </a:rPr>
              <a:t>"A human being should be able to change a diaper, plan an invasion, butcher a hog, conn a ship, design a building, write a sonnet, balance accounts, build a wall, set a bone, comfort the dying, take orders, give orders, cooperate, act alone, solve equations, analyze a new problem, pitch manure, program a computer, cook a tasty meal, fight efficiently, die gallantly. Specialization is for insects."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F6B7A"/>
                </a:solidFill>
                <a:latin typeface="Calibri"/>
              </a:rPr>
              <a:t>Robert A. Heinlein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9966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09E49"/>
                </a:solidFill>
                <a:latin typeface="Calibri"/>
              </a:rPr>
              <a:t>Discuss: Should AI be general like this, or are narrow, reliable systems more useful?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What About the Brain?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6400800"/>
            <a:ext cx="6949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Brain and model scale figures are approximate estimates.</a:t>
            </a:r>
          </a:p>
        </p:txBody>
      </p:sp>
      <p:pic>
        <p:nvPicPr>
          <p:cNvPr id="8" name="Picture 7" descr="b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1" y="1645920"/>
            <a:ext cx="4182926" cy="36866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64592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Brains are very good at making rational decisions, but not perfect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Brains are not modular like software, so they are hard to reverse engineer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AI may already be better than brains at some tasks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"Brains are to intelligence as wings are to flight"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Scale is still different: roughly 100 trillion synapses in a human brain vs. an estimated ~1.8 trillion parameters in GPT-4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The brain remains a great source of inspiration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188720"/>
          </a:xfrm>
          <a:prstGeom prst="rect">
            <a:avLst/>
          </a:prstGeom>
          <a:noFill/>
        </p:spPr>
        <p:txBody>
          <a:bodyPr wrap="square" lIns="45720" rIns="4572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 Short History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FCD116"/>
                </a:solidFill>
                <a:latin typeface="Calibri"/>
              </a:rPr>
              <a:t>Booms, winters, and rediscovery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1940s - 1980s: Foundations and First Booms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1943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McCulloch &amp; Pitts: Boolean circuit model of the brain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1950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Turing, "Computing Machinery and Intelligence"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1956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Dartmouth workshop: the term "Artificial Intelligence" is adopted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1950s - 60s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Logic-driven optimism: Samuel's checkers, Newell &amp; Simon's Logic Theorist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1958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Rosenblatt shows how to train a perceptron;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1969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Minsky &amp; Papert: perceptrons cannot learn XOR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1970s - 80s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Knowledge-based systems and the expert systems industry boom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1986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Backpropagation makes multi-layer neural networks trainable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Late 1980s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Expert systems bust: the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AI winter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1990 - 2017: Statistics, Data, and Deep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1990s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Resurgence of probability and a focus on uncertainty and agents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1992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TD-Gammon reaches human-level backgammon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1997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Deep Blue defeats Garry Kasparov at chess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2002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Roomba: AI in the home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2011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Watson wins Jeopardy!; Apple releases Siri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2012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AlexNet wins ImageNet: the deep learning era begins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2016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AlphaGo defeats Lee Sedol at Go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2017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The Transformer architecture is introduced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2017 - Today: Scale, Foundation Models, and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2017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Libratus and DeepStack beat professionals at poker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2018 - 2020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AlphaFold predicts protein structure from amino acid sequences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2021 - 2022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Modern text-to-image generation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2022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ChatGPT is released; large language models go mainstream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2024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Nobel Prizes in Physics and Chemistry recognize AI advances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2025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AI systems reach gold-medal level at the International Mathematical Olympiad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Today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AI agents that use tools, write code, and take multi-step actions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Patterns in AI History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28</a:t>
            </a:r>
          </a:p>
        </p:txBody>
      </p:sp>
      <p:pic>
        <p:nvPicPr>
          <p:cNvPr id="7" name="Picture 6" descr="h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03520" cy="25608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6459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Overclaiming followed by disillusionment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(AI winters)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Simultaneous discovery or rediscovery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of ideas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Deeply interdisciplinary: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math, statistics, control, neuroscience, psychology, economics, philosophy, linguistics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Increasingly: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law, medicine, education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Where are we on the curve today?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188720"/>
          </a:xfrm>
          <a:prstGeom prst="rect">
            <a:avLst/>
          </a:prstGeom>
          <a:noFill/>
        </p:spPr>
        <p:txBody>
          <a:bodyPr wrap="square" lIns="45720" rIns="4572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AI in Guyana and the Caribbean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FCD116"/>
                </a:solidFill>
                <a:latin typeface="Calibri"/>
              </a:rPr>
              <a:t>Opportunities, risks, and the questions we must answer ourselves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Why the Local Context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 dirty="0">
                <a:solidFill>
                  <a:srgbClr val="009E49"/>
                </a:solidFill>
                <a:latin typeface="Calibri"/>
              </a:rPr>
              <a:t>•  </a:t>
            </a:r>
            <a:r>
              <a:rPr sz="2200" b="0" i="0" dirty="0">
                <a:solidFill>
                  <a:srgbClr val="1B2A41"/>
                </a:solidFill>
                <a:latin typeface="Calibri"/>
              </a:rPr>
              <a:t>Most AI systems are built elsewhere, trained on data that rarely reflects Caribbean people, places, or language</a:t>
            </a:r>
          </a:p>
          <a:p>
            <a:pPr>
              <a:spcAft>
                <a:spcPts val="800"/>
              </a:spcAft>
            </a:pPr>
            <a:r>
              <a:rPr sz="2200" b="1" i="0" dirty="0">
                <a:solidFill>
                  <a:srgbClr val="009E49"/>
                </a:solidFill>
                <a:latin typeface="Calibri"/>
              </a:rPr>
              <a:t>•  </a:t>
            </a:r>
            <a:r>
              <a:rPr sz="2200" b="0" i="0" dirty="0">
                <a:solidFill>
                  <a:srgbClr val="1B2A41"/>
                </a:solidFill>
                <a:latin typeface="Calibri"/>
              </a:rPr>
              <a:t>Small states face distinct constraints: </a:t>
            </a:r>
            <a:r>
              <a:rPr sz="2200" b="1" i="0" dirty="0">
                <a:solidFill>
                  <a:srgbClr val="1B2A41"/>
                </a:solidFill>
                <a:latin typeface="Calibri"/>
              </a:rPr>
              <a:t>compute cost, connectivity, data availability, talent retention</a:t>
            </a:r>
          </a:p>
          <a:p>
            <a:pPr>
              <a:spcAft>
                <a:spcPts val="800"/>
              </a:spcAft>
            </a:pPr>
            <a:r>
              <a:rPr sz="2200" b="1" i="0" dirty="0">
                <a:solidFill>
                  <a:srgbClr val="009E49"/>
                </a:solidFill>
                <a:latin typeface="Calibri"/>
              </a:rPr>
              <a:t>•  </a:t>
            </a:r>
            <a:r>
              <a:rPr sz="2200" b="0" i="0" dirty="0">
                <a:solidFill>
                  <a:srgbClr val="1B2A41"/>
                </a:solidFill>
                <a:latin typeface="Calibri"/>
              </a:rPr>
              <a:t>Climate exposure, resource economies, and dispersed populations create </a:t>
            </a:r>
            <a:r>
              <a:rPr sz="2200" b="1" i="0" dirty="0">
                <a:solidFill>
                  <a:srgbClr val="1B2A41"/>
                </a:solidFill>
                <a:latin typeface="Calibri"/>
              </a:rPr>
              <a:t>problems worth solving locally</a:t>
            </a:r>
          </a:p>
          <a:p>
            <a:pPr>
              <a:spcAft>
                <a:spcPts val="800"/>
              </a:spcAft>
            </a:pPr>
            <a:r>
              <a:rPr sz="2200" b="1" i="0" dirty="0">
                <a:solidFill>
                  <a:srgbClr val="009E49"/>
                </a:solidFill>
                <a:latin typeface="Calibri"/>
              </a:rPr>
              <a:t>•  </a:t>
            </a:r>
            <a:r>
              <a:rPr sz="2200" b="1" i="0" dirty="0">
                <a:solidFill>
                  <a:srgbClr val="1B2A41"/>
                </a:solidFill>
                <a:latin typeface="Calibri"/>
              </a:rPr>
              <a:t>Constraints can drive innovation:</a:t>
            </a:r>
            <a:r>
              <a:rPr sz="2200" b="0" i="0" dirty="0">
                <a:solidFill>
                  <a:srgbClr val="1B2A41"/>
                </a:solidFill>
                <a:latin typeface="Calibri"/>
              </a:rPr>
              <a:t> efficient models, offline-first tools, and solutions designed for local needs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Regional Momentum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6400800"/>
            <a:ext cx="6949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Sources: CARICOM / CTU ICT Week 2026 Communique (caricom.org)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000" b="1" i="0">
                <a:solidFill>
                  <a:srgbClr val="1B2A41"/>
                </a:solidFill>
                <a:latin typeface="Calibri"/>
              </a:rPr>
              <a:t>CTU ICT Week 2026</a:t>
            </a:r>
            <a:r>
              <a:rPr sz="2000" b="0" i="0">
                <a:solidFill>
                  <a:srgbClr val="1B2A41"/>
                </a:solidFill>
                <a:latin typeface="Calibri"/>
              </a:rPr>
              <a:t> (Cayenne, French Guiana): Caribbean ICT ministers met under the theme "Advancing Resilience, Inclusion, Innovation and Cybersecurity in Caribbean Digital Development"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2A41"/>
                </a:solidFill>
                <a:latin typeface="Calibri"/>
              </a:rPr>
              <a:t>Ministers </a:t>
            </a:r>
            <a:r>
              <a:rPr sz="2000" b="1" i="0">
                <a:solidFill>
                  <a:srgbClr val="1B2A41"/>
                </a:solidFill>
                <a:latin typeface="Calibri"/>
              </a:rPr>
              <a:t>endorsed the Final Report of the Caribbean AI Task Force</a:t>
            </a:r>
            <a:r>
              <a:rPr sz="2000" b="0" i="0">
                <a:solidFill>
                  <a:srgbClr val="1B2A41"/>
                </a:solidFill>
                <a:latin typeface="Calibri"/>
              </a:rPr>
              <a:t> and its </a:t>
            </a:r>
            <a:r>
              <a:rPr sz="2000" b="1" i="0">
                <a:solidFill>
                  <a:srgbClr val="1B2A41"/>
                </a:solidFill>
                <a:latin typeface="Calibri"/>
              </a:rPr>
              <a:t>seven policy pillars</a:t>
            </a:r>
            <a:r>
              <a:rPr sz="2000" b="0" i="0">
                <a:solidFill>
                  <a:srgbClr val="1B2A41"/>
                </a:solidFill>
                <a:latin typeface="Calibri"/>
              </a:rPr>
              <a:t> for regional AI governance and development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2A41"/>
                </a:solidFill>
                <a:latin typeface="Calibri"/>
              </a:rPr>
              <a:t>Support for the </a:t>
            </a:r>
            <a:r>
              <a:rPr sz="2000" b="1" i="0">
                <a:solidFill>
                  <a:srgbClr val="1B2A41"/>
                </a:solidFill>
                <a:latin typeface="Calibri"/>
              </a:rPr>
              <a:t>Regional Digital Infrastructure Plan for the Caribbean</a:t>
            </a:r>
            <a:r>
              <a:rPr sz="2000" b="0" i="0">
                <a:solidFill>
                  <a:srgbClr val="1B2A41"/>
                </a:solidFill>
                <a:latin typeface="Calibri"/>
              </a:rPr>
              <a:t>, co-produced by the IDB and the World Bank, focused on international connectivity and data infrastructure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2A41"/>
                </a:solidFill>
                <a:latin typeface="Calibri"/>
              </a:rPr>
              <a:t>Calls for </a:t>
            </a:r>
            <a:r>
              <a:rPr sz="2000" b="1" i="0">
                <a:solidFill>
                  <a:srgbClr val="1B2A41"/>
                </a:solidFill>
                <a:latin typeface="Calibri"/>
              </a:rPr>
              <a:t>resilient telecommunications:</a:t>
            </a:r>
            <a:r>
              <a:rPr sz="2000" b="0" i="0">
                <a:solidFill>
                  <a:srgbClr val="1B2A41"/>
                </a:solidFill>
                <a:latin typeface="Calibri"/>
              </a:rPr>
              <a:t> submarine cable diversity, early-warning systems, regional cooperation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2A41"/>
                </a:solidFill>
                <a:latin typeface="Calibri"/>
              </a:rPr>
              <a:t>Trinidad and Tobago now has a </a:t>
            </a:r>
            <a:r>
              <a:rPr sz="2000" b="1" i="0">
                <a:solidFill>
                  <a:srgbClr val="1B2A41"/>
                </a:solidFill>
                <a:latin typeface="Calibri"/>
              </a:rPr>
              <a:t>Minister of Public Administration and Artificial Intelligence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AI Is Already Here in Guyana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6400800"/>
            <a:ext cx="6949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Sources: Stabroek News (Mar 2024, Sep 2024, May 2025, Sep 2025)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009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9E49"/>
                </a:solidFill>
                <a:latin typeface="Calibri"/>
              </a:rPr>
              <a:t>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502920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The University of Guyana launched its </a:t>
            </a:r>
            <a:r>
              <a:rPr sz="1700" b="1" i="0">
                <a:solidFill>
                  <a:srgbClr val="1B2A41"/>
                </a:solidFill>
                <a:latin typeface="Calibri"/>
              </a:rPr>
              <a:t>Master in Artificial Intelligence</a:t>
            </a:r>
            <a:r>
              <a:rPr sz="1700" b="0" i="0">
                <a:solidFill>
                  <a:srgbClr val="1B2A41"/>
                </a:solidFill>
                <a:latin typeface="Calibri"/>
              </a:rPr>
              <a:t> in September 2024.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618488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Calibri"/>
              </a:rPr>
              <a:t>Public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502920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The Competition and Consumer Affairs Commission launched </a:t>
            </a:r>
            <a:r>
              <a:rPr sz="1700" b="1" i="0">
                <a:solidFill>
                  <a:srgbClr val="1B2A41"/>
                </a:solidFill>
                <a:latin typeface="Calibri"/>
              </a:rPr>
              <a:t>"Damion"</a:t>
            </a:r>
            <a:r>
              <a:rPr sz="1700" b="0" i="0">
                <a:solidFill>
                  <a:srgbClr val="1B2A41"/>
                </a:solidFill>
                <a:latin typeface="Calibri"/>
              </a:rPr>
              <a:t>, a 24-hour WhatsApp AI agent for consumer protection questions (2024).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904488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E1126"/>
                </a:solidFill>
                <a:latin typeface="Calibri"/>
              </a:rP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502920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Local companies are deploying customer-facing </a:t>
            </a:r>
            <a:r>
              <a:rPr sz="1700" b="1" i="0">
                <a:solidFill>
                  <a:srgbClr val="1B2A41"/>
                </a:solidFill>
                <a:latin typeface="Calibri"/>
              </a:rPr>
              <a:t>AI agents</a:t>
            </a:r>
            <a:r>
              <a:rPr sz="1700" b="0" i="0">
                <a:solidFill>
                  <a:srgbClr val="1B2A41"/>
                </a:solidFill>
                <a:latin typeface="Calibri"/>
              </a:rPr>
              <a:t>, for example Silvie's Industrial Solutions' "Silvie AI" (2025).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9476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009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904488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9E49"/>
                </a:solidFill>
                <a:latin typeface="Calibri"/>
              </a:rPr>
              <a:t>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389120"/>
            <a:ext cx="5029200" cy="9079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1700" b="0" i="0" dirty="0">
                <a:solidFill>
                  <a:srgbClr val="1B2A41"/>
                </a:solidFill>
                <a:latin typeface="Calibri"/>
              </a:rPr>
              <a:t>AI4D 2023 Conference, held in Guyana, showcased </a:t>
            </a:r>
            <a:r>
              <a:rPr lang="en-US" dirty="0"/>
              <a:t>practical AI applications for industry and development</a:t>
            </a:r>
            <a:endParaRPr sz="1700" b="0" i="0" dirty="0">
              <a:solidFill>
                <a:srgbClr val="1B2A41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01E362-83E0-DD85-216E-9286A6D2A7C7}"/>
              </a:ext>
            </a:extLst>
          </p:cNvPr>
          <p:cNvSpPr txBox="1"/>
          <p:nvPr/>
        </p:nvSpPr>
        <p:spPr>
          <a:xfrm>
            <a:off x="2686003" y="6053328"/>
            <a:ext cx="681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Companies such as V75 Inc. have been building AI systems since 2016!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Opportunities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009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18488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9E49"/>
                </a:solidFill>
                <a:latin typeface="Calibri"/>
              </a:rPr>
              <a:t>Agriculture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3154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Crop and pest monitoring, yield prediction, market information for farmers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0876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618488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Calibri"/>
              </a:rPr>
              <a:t>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154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Decision support where specialists are scarce, especially in hinterland regions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50876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618488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E1126"/>
                </a:solidFill>
                <a:latin typeface="Calibri"/>
              </a:rPr>
              <a:t>Climate &amp; disasters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03120"/>
            <a:ext cx="3154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Flood and hurricane forecasting, early warning, coastal monitoring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4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009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58768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9E49"/>
                </a:solidFill>
                <a:latin typeface="Calibri"/>
              </a:rPr>
              <a:t>Public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3154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Faster, more accessible government services in local languages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74904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3858768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Calibri"/>
              </a:rPr>
              <a:t>Energy &amp; 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343400"/>
            <a:ext cx="3154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Optimization and monitoring across oil &amp; gas, mining, and forestry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374904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3858768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E1126"/>
                </a:solidFill>
                <a:latin typeface="Calibri"/>
              </a:rPr>
              <a:t>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343400"/>
            <a:ext cx="3154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Personalized tutoring and support at scale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Opportunity: Agriculture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gri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863" y="1417320"/>
            <a:ext cx="991673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CCRIF SPC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9E49"/>
                </a:solidFill>
                <a:latin typeface="Calibri"/>
              </a:rPr>
              <a:t>Trinidad &amp; Tobago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LetzFarm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, an AI app from the Carbon Zero Institute and Abris, helps small farmers identify pests and diseases. CCRIF granted US$25,000 to expand access (2024).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CCRIF SPC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gri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10" y="1417320"/>
            <a:ext cx="3771900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Nanditha Gogate, WELL Labs / Wikimedia Commons, CC BY-SA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9E49"/>
                </a:solidFill>
                <a:latin typeface="Calibri"/>
              </a:rPr>
              <a:t>10,154 advisories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India's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National Pest Surveillance System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analyses farmers' crop photos with AI, covering 61 crops and 400+ pests (as of March 2025).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Govt. of India, PIB, Sep 2025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Opportunity: Health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ealth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417320"/>
            <a:ext cx="2514600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malaria parasites in blood, M. Zahniser / Wikimedia Commons, public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Calibri"/>
              </a:rPr>
              <a:t>Guyana: ~99% accurate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Guyana's Ministry of Health and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Harvard University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are developing an AI app that reads malaria slides. Early tests in Region Nine were about 99% accurate, per the Minister (2025).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009E49"/>
                </a:solidFill>
                <a:latin typeface="Calibri"/>
                <a:hlinkClick r:id="rId3"/>
              </a:rPr>
              <a:t>Source: Ministry of Health Guyana, Mar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ealth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612" y="1417320"/>
            <a:ext cx="2737295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Wikimedia Commons, public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Calibri"/>
              </a:rPr>
              <a:t>8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India deployed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DeepCXR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, an AI tool that screens chest X-rays for tuberculosis, across eight states and union territories (2026).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Govt. of India, PIB, Mar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Opportunity: Climate &amp; Disasters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li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1417320"/>
            <a:ext cx="4470400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Hurricane Melissa, CSU/CIRA &amp; NOAA / Wikimedia Commons, public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E1126"/>
                </a:solidFill>
                <a:latin typeface="Calibri"/>
              </a:rPr>
              <a:t>Jamaica: 32,500 displaced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After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Hurricane Melissa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, UNDP's AI-based model estimated that up to 32,500 people may have been displaced, and satellite analysis found 4.8M+ tonnes of debris (Nov 2025).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UNDP Jamaica, Nov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li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296" y="1417320"/>
            <a:ext cx="4471928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Google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E1126"/>
                </a:solidFill>
                <a:latin typeface="Calibri"/>
              </a:rPr>
              <a:t>Cash before the flood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GiveDirectly used Google's AI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Flood Hub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forecasts to send cash to at-risk families before floods arrived, in Bangladesh and Nigeria (2025).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Google, Feb 2025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Opportunity: Public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u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4996"/>
            <a:ext cx="5349240" cy="2199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iGovTT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9E49"/>
                </a:solidFill>
                <a:latin typeface="Calibri"/>
              </a:rPr>
              <a:t>Trinidad &amp; Tobago: 7,000+ FAQs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iGovTT launched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Anansi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, a 24/7 AI assistant that answers questions using FAQs from about 30 government agencies (Aug 2025).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iGovTT, Aug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ub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060" y="1417320"/>
            <a:ext cx="4470400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Helar Lukats / Wikimedia Commons, CC BY-SA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9E49"/>
                </a:solidFill>
                <a:latin typeface="Calibri"/>
              </a:rPr>
              <a:t>Brazil: Chat GOV.BR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Brazil's government answers students' questions about national exams and education programmes through an AI assistant on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WhatsApp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(2026).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Govt. of Brazil, Jan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Opportunity: Energy &amp;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38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ner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74" y="1417320"/>
            <a:ext cx="4482852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Department of Public Information, Guyana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Calibri"/>
              </a:rPr>
              <a:t>Guyana at COP30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Guyana showcased plans to integrate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AI-enabled biodiversity monitoring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into its forest management and satellite-based forest monitoring systems (Nov 2025).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DPI Guyana, Nov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ener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060" y="1417320"/>
            <a:ext cx="4470400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Image: NASA Goddard / Wikimedia Commons, public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Calibri"/>
              </a:rPr>
              <a:t>Brazil: 30 m maps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MapBiomas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uses machine learning on satellite imagery to map land cover across Brazil every year, tracking forests, mining, and deforestation.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MapBiomas, Aug 2025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Opportunity: Education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39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du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417320"/>
            <a:ext cx="3657600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Jamaica Information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E1126"/>
                </a:solidFill>
                <a:latin typeface="Calibri"/>
              </a:rPr>
              <a:t>Jamaica: AI marking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Jamaica's Ministry of Education is piloting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AI paper marking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in several schools, letting the Ministry see results in real time (Apr 2025).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JIS, Apr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edu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31816"/>
            <a:ext cx="5349240" cy="188560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World 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E1126"/>
                </a:solidFill>
                <a:latin typeface="Calibri"/>
              </a:rPr>
              <a:t>Nigeria: +0.23 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Six weeks of after-school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AI tutoring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in Edo State significantly improved English learning in a World Bank randomized trial (2025).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World Bank, May 2025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Risks and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18488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E1126"/>
                </a:solidFill>
                <a:latin typeface="Calibri"/>
              </a:rPr>
              <a:t>Misinformation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3154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Deepfakes and synthetic media in elections and public discourse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0876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618488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Calibri"/>
              </a:rPr>
              <a:t>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154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Pressure on call centres, back-office, and clerical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50876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009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618488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9E49"/>
                </a:solidFill>
                <a:latin typeface="Calibri"/>
              </a:rPr>
              <a:t>Data sovereignty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03120"/>
            <a:ext cx="3154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Who owns, stores, and profits from Caribbean data?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4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58768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E1126"/>
                </a:solidFill>
                <a:latin typeface="Calibri"/>
              </a:rPr>
              <a:t>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3154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Models trained elsewhere may misread local people, names, and language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74904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3858768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Calibri"/>
              </a:rPr>
              <a:t>Cost &amp;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343400"/>
            <a:ext cx="3154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Compute, connectivity, and licensing are expensive for small states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374904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009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3858768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9E49"/>
                </a:solidFill>
                <a:latin typeface="Calibri"/>
              </a:rPr>
              <a:t>Talent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343400"/>
            <a:ext cx="3154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2A41"/>
                </a:solidFill>
                <a:latin typeface="Calibri"/>
              </a:rPr>
              <a:t>Skilled graduates are often recruited abroad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Risk: Misinformation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41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i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417320"/>
            <a:ext cx="3352800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Delegation of the EU in Guyana / Wikimedia Commons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E1126"/>
                </a:solidFill>
                <a:latin typeface="Calibri"/>
              </a:rPr>
              <a:t>Guyana 2025 elections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EU observers reported that "AI generated videos and fake Facebook pages were misleading" and AI voiceovers were used during Guyana's 2025 general elections.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EU Election Observation Mission, Final 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mi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894" y="1417320"/>
            <a:ext cx="1678731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Shixart1985 / Wikimedia Commons, CC BY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E1126"/>
                </a:solidFill>
                <a:latin typeface="Calibri"/>
              </a:rPr>
              <a:t>US$6M 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The US FCC fined a political consultant for robocalls using an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AI clone of President Biden's voice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telling voters not to vote (2024).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US FCC, Sep 2024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Risk: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42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job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670" y="1417320"/>
            <a:ext cx="3770059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Ministry of Industry, Investment and Commerce, Jamaica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Calibri"/>
              </a:rPr>
              <a:t>Jamaica: 50,000+ 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Jamaica's BPO and digital services sector employs more than 50,000 people. The government says AI is already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reshaping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customer service and back-office work (2026).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MIIC Jamaica, Mar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job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10" y="1417320"/>
            <a:ext cx="3771900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TheNuggeteer / Wikimedia Commons, CC BY-SA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Calibri"/>
              </a:rPr>
              <a:t>Philippines: 73%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of BPO workers are contact-centre clerks, a role the IMF rates as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highly exposed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to AI with low potential for AI to complement the worker (2025).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IMF Working Paper 2025/043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Risk: Data Sovereignty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43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at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670" y="1417320"/>
            <a:ext cx="3770059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David Stanley / Wikimedia Commons, CC BY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9E49"/>
                </a:solidFill>
                <a:latin typeface="Calibri"/>
              </a:rPr>
              <a:t>Guyana: Act No. 18 of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Guyana's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Data Protection Act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sets rules for how personal data is collected, processed, and transferred. AI systems that use Guyanese data must comply.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Parliament of Guyana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data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285" y="1417320"/>
            <a:ext cx="1885950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Cloud Carib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9E49"/>
                </a:solidFill>
                <a:latin typeface="Calibri"/>
              </a:rPr>
              <a:t>US$7M+ investment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Cloud Carib announced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sovereign data centre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pods under development in Guyana, Curaçao, and Bermuda, so regional data can stay in the region (Mar 2026).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009E49"/>
                </a:solidFill>
                <a:latin typeface="Calibri"/>
                <a:hlinkClick r:id="rId5"/>
              </a:rPr>
              <a:t>Source: Cloud Carib, Mar 2026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Risk: Bias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44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bia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124" y="1417320"/>
            <a:ext cx="4215151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Chart: error falls with more Patois training data, from the paper (arXiv:2507.16834)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E1126"/>
                </a:solidFill>
                <a:latin typeface="Calibri"/>
              </a:rPr>
              <a:t>89% vs 5%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OpenAI's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Whisper Large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speech model had a word error rate of 0.89 on Jamaican Patois music, compared with about 0.05 on standard English (2025).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arXiv:2507.16834, Jul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bia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285" y="1417320"/>
            <a:ext cx="1885950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Secretlondon / Wikimedia Commons, CC BY-SA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E1126"/>
                </a:solidFill>
                <a:latin typeface="Calibri"/>
              </a:rPr>
              <a:t>Wrongful arrest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Detroit police arrested Porcha Woodruff, eight months pregnant, after a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faulty facial recognition match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, the sixth known false accusation from the technology (2023).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ACLU, Aug 2023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Risk: Cost &amp;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s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76" y="1417320"/>
            <a:ext cx="3787048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Stealth Communications / Wikimedia Commons, CC BY-SA 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Calibri"/>
              </a:rPr>
              <a:t>~25% of 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For the poorest fifth of households in Jamaica, fixed broadband costs nearly 25% of monthly income, versus under 5% for the richest fifth (World Bank, 2023).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World Bank, Oct 2023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econ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914" y="1417320"/>
            <a:ext cx="3786691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BalticServers.com / Wikimedia Commons, CC BY-SA 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Calibri"/>
              </a:rPr>
              <a:t>77% vs &lt;0.1%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Share of global co-location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data centre capacity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in high-income vs. low-income countries (June 2025). Compute is concentrated in rich countries.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5"/>
              </a:rPr>
              <a:t>Source: World Bank, Nov 2025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Risk: Talent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514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al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417320"/>
            <a:ext cx="3771900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9352"/>
            <a:ext cx="5349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A"/>
                </a:solidFill>
                <a:latin typeface="Calibri"/>
              </a:rPr>
              <a:t>Photo: AusAID / DFAT, Wikimedia Commons, CC BY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349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9E49"/>
                </a:solidFill>
                <a:latin typeface="Calibri"/>
              </a:rPr>
              <a:t>Guyana 78.4% · Jamaica 89.9%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Estimated share of Guyana-born and Jamaica-born nurses who work in </a:t>
            </a:r>
            <a:r>
              <a:rPr sz="1500" b="1" i="0">
                <a:solidFill>
                  <a:srgbClr val="1B2A41"/>
                </a:solidFill>
                <a:latin typeface="Calibri"/>
              </a:rPr>
              <a:t>OECD countries</a:t>
            </a:r>
            <a:r>
              <a:rPr sz="1500" b="0" i="0">
                <a:solidFill>
                  <a:srgbClr val="1B2A41"/>
                </a:solidFill>
                <a:latin typeface="Calibri"/>
              </a:rPr>
              <a:t> rather than at home. The same pressures apply to AI and tech talent.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5349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9E49"/>
                </a:solidFill>
                <a:latin typeface="Calibri"/>
                <a:hlinkClick r:id="rId3"/>
              </a:rPr>
              <a:t>Source: OECD, Health at a Glance: LAC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349240" cy="443484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737360"/>
            <a:ext cx="4846320" cy="3931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CD116"/>
                </a:solidFill>
                <a:latin typeface="Calibri"/>
              </a:rPr>
              <a:t>Discuss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What would it take to build and keep world-class AI talent in Guyana?</a:t>
            </a:r>
          </a:p>
          <a:p>
            <a:pPr algn="l">
              <a:spcAft>
                <a:spcPts val="600"/>
              </a:spcAft>
            </a:pPr>
            <a:endParaRPr sz="2200" b="0" i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Remote work for global companies? Local startups? Research funding? Partnerships with the diaspora?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Breakout Discussion (15 minutes)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A41"/>
                </a:solidFill>
                <a:latin typeface="Calibri"/>
              </a:rPr>
              <a:t>Pick one problem facing Guyana or the Caribbean.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Is AI actually the right tool, or would a simpler solution work?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What data would you need, and does it exist?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What would a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rational agent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 for this problem be trying to maximize?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Who benefits, and who could be harmed?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Be ready to share your answer in two minutes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430959"/>
            <a:ext cx="10515600" cy="769441"/>
          </a:xfrm>
          <a:prstGeom prst="rect">
            <a:avLst/>
          </a:prstGeom>
          <a:noFill/>
        </p:spPr>
        <p:txBody>
          <a:bodyPr wrap="square" lIns="45720" rIns="4572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4400" b="1" i="0" dirty="0">
                <a:solidFill>
                  <a:srgbClr val="FFFFFF"/>
                </a:solidFill>
                <a:latin typeface="Calibri"/>
              </a:rPr>
              <a:t>MAI 5100</a:t>
            </a:r>
            <a:endParaRPr sz="4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FCD116"/>
                </a:solidFill>
                <a:latin typeface="Calibri"/>
              </a:rPr>
              <a:t>Designing rational agents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Designing Rational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49</a:t>
            </a:r>
          </a:p>
        </p:txBody>
      </p:sp>
      <p:pic>
        <p:nvPicPr>
          <p:cNvPr id="7" name="Picture 6" descr="agent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45920"/>
            <a:ext cx="3931920" cy="30910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6459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B2A41"/>
                </a:solidFill>
                <a:latin typeface="Calibri"/>
              </a:rPr>
              <a:t>An </a:t>
            </a:r>
            <a:r>
              <a:rPr sz="2200" b="1" i="0">
                <a:solidFill>
                  <a:srgbClr val="1B2A41"/>
                </a:solidFill>
                <a:latin typeface="Calibri"/>
              </a:rPr>
              <a:t>agent</a:t>
            </a:r>
            <a:r>
              <a:rPr sz="2200" b="0" i="0">
                <a:solidFill>
                  <a:srgbClr val="1B2A41"/>
                </a:solidFill>
                <a:latin typeface="Calibri"/>
              </a:rPr>
              <a:t> is an entity that </a:t>
            </a:r>
            <a:r>
              <a:rPr sz="2200" b="1" i="0">
                <a:solidFill>
                  <a:srgbClr val="1B2A41"/>
                </a:solidFill>
                <a:latin typeface="Calibri"/>
              </a:rPr>
              <a:t>perceives</a:t>
            </a:r>
            <a:r>
              <a:rPr sz="2200" b="0" i="0">
                <a:solidFill>
                  <a:srgbClr val="1B2A41"/>
                </a:solidFill>
                <a:latin typeface="Calibri"/>
              </a:rPr>
              <a:t> and </a:t>
            </a:r>
            <a:r>
              <a:rPr sz="2200" b="1" i="0">
                <a:solidFill>
                  <a:srgbClr val="1B2A41"/>
                </a:solidFill>
                <a:latin typeface="Calibri"/>
              </a:rPr>
              <a:t>acts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B2A41"/>
                </a:solidFill>
                <a:latin typeface="Calibri"/>
              </a:rPr>
              <a:t>A </a:t>
            </a:r>
            <a:r>
              <a:rPr sz="2200" b="1" i="0">
                <a:solidFill>
                  <a:srgbClr val="1B2A41"/>
                </a:solidFill>
                <a:latin typeface="Calibri"/>
              </a:rPr>
              <a:t>rational agent</a:t>
            </a:r>
            <a:r>
              <a:rPr sz="2200" b="0" i="0">
                <a:solidFill>
                  <a:srgbClr val="1B2A41"/>
                </a:solidFill>
                <a:latin typeface="Calibri"/>
              </a:rPr>
              <a:t> selects actions that maximize its </a:t>
            </a:r>
            <a:r>
              <a:rPr sz="2200" b="1" i="0">
                <a:solidFill>
                  <a:srgbClr val="1B2A41"/>
                </a:solidFill>
                <a:latin typeface="Calibri"/>
              </a:rPr>
              <a:t>expected utility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B2A41"/>
                </a:solidFill>
                <a:latin typeface="Calibri"/>
              </a:rPr>
              <a:t>The percepts, environment, and action space determine which techniques work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B2A41"/>
                </a:solidFill>
                <a:latin typeface="Calibri"/>
              </a:rPr>
              <a:t>This course covers:</a:t>
            </a:r>
          </a:p>
          <a:p>
            <a:pPr>
              <a:spcAft>
                <a:spcPts val="400"/>
              </a:spcAft>
            </a:pPr>
            <a:r>
              <a:rPr sz="2000" b="1" i="0">
                <a:solidFill>
                  <a:srgbClr val="5F6B7A"/>
                </a:solidFill>
                <a:latin typeface="Calibri"/>
              </a:rPr>
              <a:t>      –  </a:t>
            </a:r>
            <a:r>
              <a:rPr sz="2000" b="0" i="0">
                <a:solidFill>
                  <a:srgbClr val="5F6B7A"/>
                </a:solidFill>
                <a:latin typeface="Calibri"/>
              </a:rPr>
              <a:t>General AI techniques for a variety of problem types</a:t>
            </a:r>
          </a:p>
          <a:p>
            <a:pPr>
              <a:spcAft>
                <a:spcPts val="400"/>
              </a:spcAft>
            </a:pPr>
            <a:r>
              <a:rPr sz="2000" b="1" i="0">
                <a:solidFill>
                  <a:srgbClr val="5F6B7A"/>
                </a:solidFill>
                <a:latin typeface="Calibri"/>
              </a:rPr>
              <a:t>      –  </a:t>
            </a:r>
            <a:r>
              <a:rPr sz="2000" b="0" i="0">
                <a:solidFill>
                  <a:srgbClr val="5F6B7A"/>
                </a:solidFill>
                <a:latin typeface="Calibri"/>
              </a:rPr>
              <a:t>Recognizing when a problem can be solved with an existing technique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Agent and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50</a:t>
            </a:r>
          </a:p>
        </p:txBody>
      </p:sp>
      <p:pic>
        <p:nvPicPr>
          <p:cNvPr id="7" name="Picture 6" descr="rational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3550838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200" b="1" i="0">
                <a:solidFill>
                  <a:srgbClr val="1B2A41"/>
                </a:solidFill>
                <a:latin typeface="Calibri"/>
              </a:rPr>
              <a:t>Sensors</a:t>
            </a:r>
            <a:r>
              <a:rPr sz="2200" b="0" i="0">
                <a:solidFill>
                  <a:srgbClr val="1B2A41"/>
                </a:solidFill>
                <a:latin typeface="Calibri"/>
              </a:rPr>
              <a:t> receive percepts from the environment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200" b="1" i="0">
                <a:solidFill>
                  <a:srgbClr val="1B2A41"/>
                </a:solidFill>
                <a:latin typeface="Calibri"/>
              </a:rPr>
              <a:t>Actuators</a:t>
            </a:r>
            <a:r>
              <a:rPr sz="2200" b="0" i="0">
                <a:solidFill>
                  <a:srgbClr val="1B2A41"/>
                </a:solidFill>
                <a:latin typeface="Calibri"/>
              </a:rPr>
              <a:t> carry out actions in the environment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B2A41"/>
                </a:solidFill>
                <a:latin typeface="Calibri"/>
              </a:rPr>
              <a:t>The </a:t>
            </a:r>
            <a:r>
              <a:rPr sz="2200" b="1" i="0">
                <a:solidFill>
                  <a:srgbClr val="1B2A41"/>
                </a:solidFill>
                <a:latin typeface="Calibri"/>
              </a:rPr>
              <a:t>agent function</a:t>
            </a:r>
            <a:r>
              <a:rPr sz="2200" b="0" i="0">
                <a:solidFill>
                  <a:srgbClr val="1B2A41"/>
                </a:solidFill>
                <a:latin typeface="Calibri"/>
              </a:rPr>
              <a:t> maps what it has perceived so far to an action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B2A41"/>
                </a:solidFill>
                <a:latin typeface="Calibri"/>
              </a:rPr>
              <a:t>Our job: design that function well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Pac-Man as an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51</a:t>
            </a:r>
          </a:p>
        </p:txBody>
      </p:sp>
      <p:pic>
        <p:nvPicPr>
          <p:cNvPr id="7" name="Picture 6" descr="pacm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29175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73736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 dirty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 dirty="0">
                <a:solidFill>
                  <a:srgbClr val="1B2A41"/>
                </a:solidFill>
                <a:latin typeface="Calibri"/>
              </a:rPr>
              <a:t>Percepts:</a:t>
            </a:r>
            <a:r>
              <a:rPr sz="2100" b="0" i="0" dirty="0">
                <a:solidFill>
                  <a:srgbClr val="1B2A41"/>
                </a:solidFill>
                <a:latin typeface="Calibri"/>
              </a:rPr>
              <a:t> maze layout, food, ghosts, score</a:t>
            </a:r>
          </a:p>
          <a:p>
            <a:pPr>
              <a:spcAft>
                <a:spcPts val="800"/>
              </a:spcAft>
            </a:pPr>
            <a:r>
              <a:rPr sz="2100" b="1" i="0" dirty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 dirty="0">
                <a:solidFill>
                  <a:srgbClr val="1B2A41"/>
                </a:solidFill>
                <a:latin typeface="Calibri"/>
              </a:rPr>
              <a:t>Actions:</a:t>
            </a:r>
            <a:r>
              <a:rPr sz="2100" b="0" i="0" dirty="0">
                <a:solidFill>
                  <a:srgbClr val="1B2A41"/>
                </a:solidFill>
                <a:latin typeface="Calibri"/>
              </a:rPr>
              <a:t> North, South, East, West, Stop</a:t>
            </a:r>
          </a:p>
          <a:p>
            <a:pPr>
              <a:spcAft>
                <a:spcPts val="800"/>
              </a:spcAft>
            </a:pPr>
            <a:r>
              <a:rPr sz="2100" b="1" i="0" dirty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1" i="0" dirty="0">
                <a:solidFill>
                  <a:srgbClr val="1B2A41"/>
                </a:solidFill>
                <a:latin typeface="Calibri"/>
              </a:rPr>
              <a:t>Goal:</a:t>
            </a:r>
            <a:r>
              <a:rPr sz="2100" b="0" i="0" dirty="0">
                <a:solidFill>
                  <a:srgbClr val="1B2A41"/>
                </a:solidFill>
                <a:latin typeface="Calibri"/>
              </a:rPr>
              <a:t> maximize score</a:t>
            </a:r>
          </a:p>
          <a:p>
            <a:pPr>
              <a:spcAft>
                <a:spcPts val="800"/>
              </a:spcAft>
            </a:pPr>
            <a:r>
              <a:rPr sz="2100" b="1" i="0" dirty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 dirty="0">
                <a:solidFill>
                  <a:srgbClr val="1B2A41"/>
                </a:solidFill>
                <a:latin typeface="Calibri"/>
              </a:rPr>
              <a:t>You will build Pac-Man agents throughout the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6583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Pac-Man is a registered trademark of Bandai Namco, used here for educational purposes.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Course Topics: Core Components of Rational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009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18488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09E49"/>
                </a:solidFill>
                <a:latin typeface="Calibri"/>
              </a:rPr>
              <a:t>Search &amp;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50292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B2A41"/>
                </a:solidFill>
                <a:latin typeface="Calibri"/>
              </a:rPr>
              <a:t>How can I use my model of the world to find a sequence of actions that achieves my goal?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618488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A41"/>
                </a:solidFill>
                <a:latin typeface="Calibri"/>
              </a:rPr>
              <a:t>Probability &amp;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50292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B2A41"/>
                </a:solidFill>
                <a:latin typeface="Calibri"/>
              </a:rPr>
              <a:t>How can I make sense of uncertainty?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4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858768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CE1126"/>
                </a:solidFill>
                <a:latin typeface="Calibri"/>
              </a:rPr>
              <a:t>Reinforcement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50292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B2A41"/>
                </a:solidFill>
                <a:latin typeface="Calibri"/>
              </a:rPr>
              <a:t>How can I learn a policy for any situation so that I maximize utility?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4904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009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3858768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09E49"/>
                </a:solidFill>
                <a:latin typeface="Calibri"/>
              </a:rPr>
              <a:t>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343400"/>
            <a:ext cx="50292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B2A41"/>
                </a:solidFill>
                <a:latin typeface="Calibri"/>
              </a:rPr>
              <a:t>How can I learn a model of the world from data?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By the End of This Course You Will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Build and understand the math behind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rational, learning agents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Select and apply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 the right AI method for a wide range of problems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Recognize how these methods appear in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modern AI systems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, including LLMs and agents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Be prepared to make informed decisions about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how AI is used in society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, here and abroad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F6B7A"/>
                </a:solidFill>
                <a:latin typeface="Calibri"/>
              </a:rPr>
              <a:t>This course is a foundation, not a survey of every modern technique. The principles you learn here underpin today's state-of-the-art systems.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188720"/>
          </a:xfrm>
          <a:prstGeom prst="rect">
            <a:avLst/>
          </a:prstGeom>
          <a:noFill/>
        </p:spPr>
        <p:txBody>
          <a:bodyPr wrap="square" lIns="45720" rIns="4572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Course Logistics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55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5394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marT="27432" marB="27432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T="27432" marB="27432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marT="27432" marB="27432"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Oct 24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Introduction to AI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Oct 31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Uninformed search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Nov 7</a:t>
                      </a:r>
                    </a:p>
                  </a:txBody>
                  <a:tcPr marT="27432" marB="27432"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No class</a:t>
                      </a:r>
                    </a:p>
                  </a:txBody>
                  <a:tcPr marT="27432" marB="27432">
                    <a:solidFill>
                      <a:srgbClr val="FFF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Nov 14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Informed search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Nov 21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Constraint satisfaction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Nov 28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Local &amp; adversarial search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Dec 5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Expectimax, utilities, MDPs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Dec 12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MDPs and RL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Dec 19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Midterm / review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463040"/>
          <a:ext cx="539496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marT="27432" marB="27432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T="27432" marB="27432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marT="27432" marB="27432"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Dec 26 &amp; Jan 2</a:t>
                      </a:r>
                    </a:p>
                  </a:txBody>
                  <a:tcPr marT="27432" marB="27432"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No class (holidays)</a:t>
                      </a:r>
                    </a:p>
                  </a:txBody>
                  <a:tcPr marT="27432" marB="27432">
                    <a:solidFill>
                      <a:srgbClr val="FFF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Jan 9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Probability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Jan 16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Bayes nets: representation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Jan 23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Bayes nets: inference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Jan 30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Markov models and HMMs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Feb 6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Decision networks; ML basics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Feb 13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ML: classification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Feb 20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Project presentations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A"/>
                </a:solidFill>
                <a:latin typeface="Calibri"/>
              </a:rPr>
              <a:t>Saturdays, 9:00 AM - 1:00 PM Guyana time on Zoom. The schedule may be adjusted; changes will be announced.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Assessment and Submissions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56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4754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41"/>
                          </a:solidFill>
                          <a:latin typeface="Calibri"/>
                        </a:rPr>
                        <a:t>Homeworks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41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41"/>
                          </a:solidFill>
                          <a:latin typeface="Calibri"/>
                        </a:rPr>
                        <a:t>Participation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41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41"/>
                          </a:solidFill>
                          <a:latin typeface="Calibri"/>
                        </a:rPr>
                        <a:t>Mid-term exam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41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41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41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0" y="164592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009E49"/>
                </a:solidFill>
                <a:latin typeface="Calibri"/>
              </a:rPr>
              <a:t>•  </a:t>
            </a:r>
            <a:r>
              <a:rPr sz="2000" b="0" i="0" dirty="0" err="1">
                <a:solidFill>
                  <a:srgbClr val="1B2A41"/>
                </a:solidFill>
                <a:latin typeface="Calibri"/>
              </a:rPr>
              <a:t>Homeworks</a:t>
            </a:r>
            <a:r>
              <a:rPr sz="2000" b="0" i="0" dirty="0">
                <a:solidFill>
                  <a:srgbClr val="1B2A41"/>
                </a:solidFill>
                <a:latin typeface="Calibri"/>
              </a:rPr>
              <a:t> are </a:t>
            </a:r>
            <a:r>
              <a:rPr sz="2000" b="1" i="0" dirty="0">
                <a:solidFill>
                  <a:srgbClr val="1B2A41"/>
                </a:solidFill>
                <a:latin typeface="Calibri"/>
              </a:rPr>
              <a:t>Pac-Man based</a:t>
            </a:r>
            <a:r>
              <a:rPr sz="2000" b="0" i="0" dirty="0">
                <a:solidFill>
                  <a:srgbClr val="1B2A41"/>
                </a:solidFill>
                <a:latin typeface="Calibri"/>
              </a:rPr>
              <a:t> coding projects with an </a:t>
            </a:r>
            <a:r>
              <a:rPr sz="2000" b="0" i="0" dirty="0" err="1">
                <a:solidFill>
                  <a:srgbClr val="1B2A41"/>
                </a:solidFill>
                <a:latin typeface="Calibri"/>
              </a:rPr>
              <a:t>autograder</a:t>
            </a:r>
            <a:r>
              <a:rPr sz="2000" b="0" i="0" dirty="0">
                <a:solidFill>
                  <a:srgbClr val="1B2A41"/>
                </a:solidFill>
                <a:latin typeface="Calibri"/>
              </a:rPr>
              <a:t>, plus written problems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009E49"/>
                </a:solidFill>
                <a:latin typeface="Calibri"/>
              </a:rPr>
              <a:t>•  </a:t>
            </a:r>
            <a:r>
              <a:rPr sz="2000" b="0" i="0" dirty="0">
                <a:solidFill>
                  <a:srgbClr val="1B2A41"/>
                </a:solidFill>
                <a:latin typeface="Calibri"/>
              </a:rPr>
              <a:t>Submit assignments as </a:t>
            </a:r>
            <a:r>
              <a:rPr sz="2000" b="1" i="0" dirty="0">
                <a:solidFill>
                  <a:srgbClr val="1B2A41"/>
                </a:solidFill>
                <a:latin typeface="Calibri"/>
              </a:rPr>
              <a:t>pull requests</a:t>
            </a:r>
            <a:r>
              <a:rPr sz="2000" b="0" i="0" dirty="0">
                <a:solidFill>
                  <a:srgbClr val="1B2A41"/>
                </a:solidFill>
                <a:latin typeface="Calibri"/>
              </a:rPr>
              <a:t> to the course GitHub repository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009E49"/>
                </a:solidFill>
                <a:latin typeface="Calibri"/>
              </a:rPr>
              <a:t>•  </a:t>
            </a:r>
            <a:r>
              <a:rPr sz="2000" b="0" i="0" dirty="0">
                <a:solidFill>
                  <a:srgbClr val="1B2A41"/>
                </a:solidFill>
                <a:latin typeface="Calibri"/>
              </a:rPr>
              <a:t>Due by </a:t>
            </a:r>
            <a:r>
              <a:rPr sz="2000" b="1" i="0" dirty="0">
                <a:solidFill>
                  <a:srgbClr val="1B2A41"/>
                </a:solidFill>
                <a:latin typeface="Calibri"/>
              </a:rPr>
              <a:t>11:59 PM Guyana time</a:t>
            </a:r>
            <a:r>
              <a:rPr sz="2000" b="0" i="0" dirty="0">
                <a:solidFill>
                  <a:srgbClr val="1B2A41"/>
                </a:solidFill>
                <a:latin typeface="Calibri"/>
              </a:rPr>
              <a:t> on the due date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009E49"/>
                </a:solidFill>
                <a:latin typeface="Calibri"/>
              </a:rPr>
              <a:t>•  </a:t>
            </a:r>
            <a:r>
              <a:rPr sz="2000" b="0" i="0" dirty="0">
                <a:solidFill>
                  <a:srgbClr val="1B2A41"/>
                </a:solidFill>
                <a:latin typeface="Calibri"/>
              </a:rPr>
              <a:t>Course project: research-oriented or applied, completed in groups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009E49"/>
                </a:solidFill>
                <a:latin typeface="Calibri"/>
              </a:rPr>
              <a:t>•  </a:t>
            </a:r>
            <a:r>
              <a:rPr sz="2000" b="0" i="0" dirty="0">
                <a:solidFill>
                  <a:srgbClr val="1B2A41"/>
                </a:solidFill>
                <a:latin typeface="Calibri"/>
              </a:rPr>
              <a:t>Plan for </a:t>
            </a:r>
            <a:r>
              <a:rPr sz="2000" b="1" i="0" dirty="0">
                <a:solidFill>
                  <a:srgbClr val="1B2A41"/>
                </a:solidFill>
                <a:latin typeface="Calibri"/>
              </a:rPr>
              <a:t>10 - 15 hours per week</a:t>
            </a:r>
            <a:r>
              <a:rPr sz="2000" b="0" i="0" dirty="0">
                <a:solidFill>
                  <a:srgbClr val="1B2A41"/>
                </a:solidFill>
                <a:latin typeface="Calibri"/>
              </a:rPr>
              <a:t> outside of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47548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F6B7A"/>
                </a:solidFill>
                <a:latin typeface="Calibri"/>
              </a:rPr>
              <a:t>Grades: A 80-100  ·  B 70-79  ·  C 60-69  ·  F &lt; 60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F6B7A"/>
                </a:solidFill>
                <a:latin typeface="Calibri"/>
              </a:rPr>
              <a:t>Readings: Russell &amp; Norvig, Artificial Intelligence: A Modern Approach (4th ed.)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Generative AI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6400800"/>
            <a:ext cx="6949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Bastani et al., Proceedings of the National Academy of Sciences,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You may use generative AI as a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collaborator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, and you must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acknowledge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 it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You must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understand everything you submit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; we will check this on exams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Submitting AI output you do not understand is an academic violation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100" b="0" i="0">
                <a:solidFill>
                  <a:srgbClr val="1B2A41"/>
                </a:solidFill>
                <a:latin typeface="Calibri"/>
              </a:rPr>
              <a:t>Goal: use AI to learn faster, </a:t>
            </a:r>
            <a:r>
              <a:rPr sz="2100" b="1" i="0">
                <a:solidFill>
                  <a:srgbClr val="1B2A41"/>
                </a:solidFill>
                <a:latin typeface="Calibri"/>
              </a:rPr>
              <a:t>not to skip the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645920"/>
            <a:ext cx="4846320" cy="39319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2540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60" y="1828800"/>
            <a:ext cx="4389120" cy="356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A41"/>
                </a:solidFill>
                <a:latin typeface="Calibri"/>
              </a:rPr>
              <a:t>"Having GPT-4 access while solving problems significantly improves performance... However, when access is subsequently taken away, students actually perform worse than those who never had access... unfettered access to GPT-4 can harm educational outcomes."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Before Next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Read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AIMA Chapter 1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 (Introduction) and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Chapter 2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 (Intelligent Agents)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Make sure you have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Python 3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 and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Git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 installed, and a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GitHub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 account</a:t>
            </a:r>
          </a:p>
          <a:p>
            <a:pPr>
              <a:spcAft>
                <a:spcPts val="800"/>
              </a:spcAft>
            </a:pPr>
            <a:r>
              <a:rPr sz="24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Start thinking about </a:t>
            </a:r>
            <a:r>
              <a:rPr sz="2400" b="1" i="0">
                <a:solidFill>
                  <a:srgbClr val="1B2A41"/>
                </a:solidFill>
                <a:latin typeface="Calibri"/>
              </a:rPr>
              <a:t>project interests</a:t>
            </a:r>
            <a:r>
              <a:rPr sz="2400" b="0" i="0">
                <a:solidFill>
                  <a:srgbClr val="1B2A41"/>
                </a:solidFill>
                <a:latin typeface="Calibri"/>
              </a:rPr>
              <a:t> and potential teammates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698480" cy="1280160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CD116"/>
                </a:solidFill>
                <a:latin typeface="Calibri"/>
              </a:rPr>
              <a:t>Next week: </a:t>
            </a:r>
            <a:r>
              <a:rPr sz="2600" b="0" i="0">
                <a:solidFill>
                  <a:srgbClr val="FFFFFF"/>
                </a:solidFill>
                <a:latin typeface="Calibri"/>
              </a:rPr>
              <a:t>Problem solving by search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A41"/>
                </a:solidFill>
                <a:latin typeface="Calibri"/>
              </a:rPr>
              <a:t>Acknowledgements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" cy="64008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MAI 5100 · Fundamentals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B2A41"/>
                </a:solidFill>
                <a:latin typeface="Calibri"/>
              </a:rPr>
              <a:t>Portions of this lecture and course are adapted from </a:t>
            </a:r>
            <a:r>
              <a:rPr sz="2200" b="1" i="0">
                <a:solidFill>
                  <a:srgbClr val="1B2A41"/>
                </a:solidFill>
                <a:latin typeface="Calibri"/>
              </a:rPr>
              <a:t>UC Berkeley CS 188: Introduction to Artificial Intelligence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9E49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B2A41"/>
                </a:solidFill>
                <a:latin typeface="Calibri"/>
              </a:rPr>
              <a:t>Illustrations courtesy of the CS 188 course materials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4959</Words>
  <Application>Microsoft Macintosh PowerPoint</Application>
  <PresentationFormat>Widescreen</PresentationFormat>
  <Paragraphs>619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Christopher Clarke</cp:lastModifiedBy>
  <cp:revision>9</cp:revision>
  <dcterms:created xsi:type="dcterms:W3CDTF">2013-01-27T09:14:16Z</dcterms:created>
  <dcterms:modified xsi:type="dcterms:W3CDTF">2026-10-24T16:53:50Z</dcterms:modified>
  <cp:category/>
</cp:coreProperties>
</file>