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6"/>
  </p:notesMasterIdLst>
  <p:sldIdLst>
    <p:sldId id="483" r:id="rId3"/>
    <p:sldId id="484" r:id="rId4"/>
    <p:sldId id="485" r:id="rId5"/>
    <p:sldId id="389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465" r:id="rId18"/>
    <p:sldId id="429" r:id="rId19"/>
    <p:sldId id="472" r:id="rId20"/>
    <p:sldId id="473" r:id="rId21"/>
    <p:sldId id="430" r:id="rId22"/>
    <p:sldId id="477" r:id="rId23"/>
    <p:sldId id="475" r:id="rId24"/>
    <p:sldId id="466" r:id="rId25"/>
    <p:sldId id="392" r:id="rId26"/>
    <p:sldId id="463" r:id="rId27"/>
    <p:sldId id="435" r:id="rId28"/>
    <p:sldId id="445" r:id="rId29"/>
    <p:sldId id="427" r:id="rId30"/>
    <p:sldId id="449" r:id="rId31"/>
    <p:sldId id="486" r:id="rId32"/>
    <p:sldId id="487" r:id="rId33"/>
    <p:sldId id="467" r:id="rId34"/>
    <p:sldId id="450" r:id="rId35"/>
    <p:sldId id="394" r:id="rId36"/>
    <p:sldId id="393" r:id="rId37"/>
    <p:sldId id="400" r:id="rId38"/>
    <p:sldId id="451" r:id="rId39"/>
    <p:sldId id="468" r:id="rId40"/>
    <p:sldId id="452" r:id="rId41"/>
    <p:sldId id="436" r:id="rId42"/>
    <p:sldId id="438" r:id="rId43"/>
    <p:sldId id="439" r:id="rId44"/>
    <p:sldId id="488" r:id="rId45"/>
    <p:sldId id="489" r:id="rId46"/>
    <p:sldId id="459" r:id="rId47"/>
    <p:sldId id="401" r:id="rId48"/>
    <p:sldId id="469" r:id="rId49"/>
    <p:sldId id="453" r:id="rId50"/>
    <p:sldId id="455" r:id="rId51"/>
    <p:sldId id="490" r:id="rId52"/>
    <p:sldId id="491" r:id="rId53"/>
    <p:sldId id="492" r:id="rId54"/>
    <p:sldId id="493" r:id="rId55"/>
    <p:sldId id="494" r:id="rId56"/>
    <p:sldId id="495" r:id="rId57"/>
    <p:sldId id="496" r:id="rId58"/>
    <p:sldId id="513" r:id="rId59"/>
    <p:sldId id="460" r:id="rId60"/>
    <p:sldId id="402" r:id="rId61"/>
    <p:sldId id="406" r:id="rId62"/>
    <p:sldId id="497" r:id="rId63"/>
    <p:sldId id="498" r:id="rId64"/>
    <p:sldId id="499" r:id="rId65"/>
    <p:sldId id="500" r:id="rId66"/>
    <p:sldId id="501" r:id="rId67"/>
    <p:sldId id="502" r:id="rId68"/>
    <p:sldId id="503" r:id="rId69"/>
    <p:sldId id="504" r:id="rId70"/>
    <p:sldId id="514" r:id="rId71"/>
    <p:sldId id="470" r:id="rId72"/>
    <p:sldId id="407" r:id="rId73"/>
    <p:sldId id="476" r:id="rId74"/>
    <p:sldId id="478" r:id="rId75"/>
    <p:sldId id="424" r:id="rId76"/>
    <p:sldId id="516" r:id="rId77"/>
    <p:sldId id="408" r:id="rId78"/>
    <p:sldId id="461" r:id="rId79"/>
    <p:sldId id="409" r:id="rId80"/>
    <p:sldId id="457" r:id="rId81"/>
    <p:sldId id="413" r:id="rId82"/>
    <p:sldId id="505" r:id="rId83"/>
    <p:sldId id="506" r:id="rId84"/>
    <p:sldId id="507" r:id="rId85"/>
    <p:sldId id="508" r:id="rId86"/>
    <p:sldId id="509" r:id="rId87"/>
    <p:sldId id="510" r:id="rId88"/>
    <p:sldId id="511" r:id="rId89"/>
    <p:sldId id="512" r:id="rId90"/>
    <p:sldId id="515" r:id="rId91"/>
    <p:sldId id="479" r:id="rId92"/>
    <p:sldId id="480" r:id="rId93"/>
    <p:sldId id="481" r:id="rId94"/>
    <p:sldId id="482" r:id="rId95"/>
    <p:sldId id="517" r:id="rId96"/>
    <p:sldId id="471" r:id="rId97"/>
    <p:sldId id="458" r:id="rId98"/>
    <p:sldId id="444" r:id="rId99"/>
    <p:sldId id="518" r:id="rId100"/>
    <p:sldId id="519" r:id="rId101"/>
    <p:sldId id="520" r:id="rId102"/>
    <p:sldId id="521" r:id="rId103"/>
    <p:sldId id="522" r:id="rId104"/>
    <p:sldId id="523" r:id="rId10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presProps" Target="presProp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heme" Target="theme/theme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04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theme</a:t>
            </a:r>
            <a:r>
              <a:rPr lang="en-US" baseline="0" dirty="0"/>
              <a:t> in the class:</a:t>
            </a:r>
          </a:p>
          <a:p>
            <a:endParaRPr lang="en-US" baseline="0" dirty="0"/>
          </a:p>
          <a:p>
            <a:r>
              <a:rPr lang="en-US" baseline="0" dirty="0"/>
              <a:t>A goal we have in mind.</a:t>
            </a:r>
          </a:p>
          <a:p>
            <a:endParaRPr lang="en-US" baseline="0" dirty="0"/>
          </a:p>
          <a:p>
            <a:r>
              <a:rPr lang="en-US" baseline="0" dirty="0"/>
              <a:t>A mathematical abstraction to formalize this</a:t>
            </a:r>
          </a:p>
          <a:p>
            <a:endParaRPr lang="en-US" baseline="0" dirty="0"/>
          </a:p>
          <a:p>
            <a:r>
              <a:rPr lang="en-US" baseline="0" dirty="0"/>
              <a:t>Algorithms that operate on these abstractions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82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blinking your eye (not using your entire thinking capabilities),</a:t>
            </a:r>
            <a:r>
              <a:rPr lang="en-US" baseline="0" dirty="0"/>
              <a:t> vacuum cleaner moving towards nearest dirt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4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comes back on exams</a:t>
            </a:r>
          </a:p>
          <a:p>
            <a:endParaRPr lang="en-US" dirty="0"/>
          </a:p>
          <a:p>
            <a:r>
              <a:rPr lang="en-US" dirty="0"/>
              <a:t>Goal test – sometimes</a:t>
            </a:r>
            <a:r>
              <a:rPr lang="en-US" baseline="0" dirty="0"/>
              <a:t> more than one state that satisfies having achieved the goal, for example, “eat all the dots”</a:t>
            </a:r>
          </a:p>
          <a:p>
            <a:endParaRPr lang="en-US" baseline="0" dirty="0"/>
          </a:p>
          <a:p>
            <a:r>
              <a:rPr lang="en-US" baseline="0" dirty="0"/>
              <a:t>Abstraction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616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Wrong example for “eat-all-dots”: (x, y, dot count)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507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90 * (2^30-1) + 30 * 2^29 = 145 billion</a:t>
            </a:r>
          </a:p>
          <a:p>
            <a:r>
              <a:rPr lang="en-US">
                <a:latin typeface="Arial" charset="0"/>
              </a:rPr>
              <a:t>2^29 = 536 870 912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1C6AE4-F625-4A1A-A100-707641139A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5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874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plans that achieve the same state, will be different nodes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463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show tree</a:t>
            </a:r>
          </a:p>
          <a:p>
            <a:r>
              <a:rPr lang="en-US" dirty="0"/>
              <a:t>Right: fringe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092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549D34-9FA6-44AF-8862-E060EE74E80B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5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9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BFS.)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22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UCS.)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15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DFS.)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6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AD5590-9C90-486D-8FA8-38179D6EA4C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666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24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2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53A5A-7A6F-4C45-B3DA-4ADA5F9066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7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900"/>
            </a:lvl2pPr>
            <a:lvl3pPr marL="914286" indent="0">
              <a:buNone/>
              <a:defRPr sz="1600"/>
            </a:lvl3pPr>
            <a:lvl4pPr marL="1371430" indent="0">
              <a:buNone/>
              <a:defRPr sz="1500"/>
            </a:lvl4pPr>
            <a:lvl5pPr marL="1828573" indent="0">
              <a:buNone/>
              <a:defRPr sz="1500"/>
            </a:lvl5pPr>
            <a:lvl6pPr marL="2285718" indent="0">
              <a:buNone/>
              <a:defRPr sz="1500"/>
            </a:lvl6pPr>
            <a:lvl7pPr marL="2742858" indent="0">
              <a:buNone/>
              <a:defRPr sz="1500"/>
            </a:lvl7pPr>
            <a:lvl8pPr marL="3200000" indent="0">
              <a:buNone/>
              <a:defRPr sz="1500"/>
            </a:lvl8pPr>
            <a:lvl9pPr marL="365714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B8BF5-5AC2-408A-9CF5-48C84EA6D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2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5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1A8ED-9B00-4419-8B3B-2343371CE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1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8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60C99-D8C1-4775-8462-7FCDDC81A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7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7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C37A3-2FAA-437F-A346-3CF46B1B8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8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880-79EA-4BC7-A72F-59EFE6AB7F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F6080-E520-45DC-884B-D171AED74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1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1731-2654-4748-B0E7-440E0FE37C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3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9749340B-4FC7-4D90-97D1-24A2CDF192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6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8" rIns="91430" bIns="45718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3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7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58" indent="-34285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57" indent="-28571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85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00" indent="-22857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14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286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430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57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71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3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0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0" i="0">
                <a:solidFill>
                  <a:srgbClr val="000000"/>
                </a:solidFill>
                <a:latin typeface="Calibri"/>
              </a:rPr>
              <a:t>MAI 5100: Fundamentals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Week 2: Problem Solving by Searching</a:t>
            </a:r>
          </a:p>
          <a:p>
            <a:r>
              <a:rPr sz="2000" b="0" i="0">
                <a:solidFill>
                  <a:srgbClr val="595959"/>
                </a:solidFill>
                <a:latin typeface="Calibri"/>
              </a:rPr>
              <a:t>Dr. Christopher Clarke  ·  University of Guyana  ·  31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Homework 0 (Search)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 is released today on GitHub: hw/hw0</a:t>
            </a:r>
          </a:p>
          <a:p>
            <a:pPr lvl="1"/>
            <a:r>
              <a:rPr sz="2200" b="0" i="0">
                <a:solidFill>
                  <a:srgbClr val="000000"/>
                </a:solidFill>
                <a:latin typeface="Calibri"/>
              </a:rPr>
              <a:t>Due </a:t>
            </a:r>
            <a:r>
              <a:rPr sz="2200" b="1" i="0">
                <a:solidFill>
                  <a:srgbClr val="000000"/>
                </a:solidFill>
                <a:latin typeface="Calibri"/>
              </a:rPr>
              <a:t>Saturday, 21 November, 11:59 PM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Guyana time</a:t>
            </a:r>
          </a:p>
          <a:p>
            <a:pPr lvl="1"/>
            <a:r>
              <a:rPr sz="2200" b="0" i="0">
                <a:solidFill>
                  <a:srgbClr val="000000"/>
                </a:solidFill>
                <a:latin typeface="Calibri"/>
              </a:rPr>
              <a:t>Pac-Man Q1–Q3 (DFS, BFS, UCS) use today’s material; A* and heuristics follow on 14 November</a:t>
            </a:r>
          </a:p>
          <a:p>
            <a:r>
              <a:rPr sz="2600" b="1" i="0">
                <a:solidFill>
                  <a:srgbClr val="000000"/>
                </a:solidFill>
                <a:latin typeface="Calibri"/>
              </a:rPr>
              <a:t>No class next Saturday (7 November)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Next lecture (14 November): informed search, heuristics, and A*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Reading: Russell &amp; Norvig,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Chapter 3.1–3.4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Recap: Week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 i="0">
                <a:solidFill>
                  <a:srgbClr val="000000"/>
                </a:solidFill>
                <a:latin typeface="Calibri"/>
              </a:rPr>
              <a:t>AI as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designing rational agents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: act to maximize expected utility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An agent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perceives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 its environment through sensors and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acts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 through actuators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Properties of the environment (observable? deterministic? static? discrete?) determine which techniques fit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Today’s setting: fully observable, deterministic, static, discrete, single agent</a:t>
            </a:r>
          </a:p>
          <a:p>
            <a:pPr lvl="1"/>
            <a:r>
              <a:rPr sz="2200" b="0" i="0">
                <a:solidFill>
                  <a:srgbClr val="000000"/>
                </a:solidFill>
                <a:latin typeface="Calibri"/>
              </a:rPr>
              <a:t>In this setting, an agent can find a whole plan by </a:t>
            </a:r>
            <a:r>
              <a:rPr sz="2200" b="1" i="0">
                <a:solidFill>
                  <a:srgbClr val="000000"/>
                </a:solidFill>
                <a:latin typeface="Calibri"/>
              </a:rPr>
              <a:t>searching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before it 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2656" y="2865120"/>
            <a:ext cx="4348062" cy="3261047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Today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3"/>
            <a:ext cx="9499600" cy="4729164"/>
          </a:xfrm>
        </p:spPr>
        <p:txBody>
          <a:bodyPr/>
          <a:lstStyle/>
          <a:p>
            <a:r>
              <a:rPr sz="2800" b="0" i="0" dirty="0">
                <a:solidFill>
                  <a:srgbClr val="000000"/>
                </a:solidFill>
                <a:latin typeface="Calibri"/>
              </a:rPr>
              <a:t>Intelligent agents: rationality, PEAS, environments, agent types</a:t>
            </a:r>
          </a:p>
          <a:p>
            <a:r>
              <a:rPr sz="2800" b="0" i="0" dirty="0">
                <a:solidFill>
                  <a:srgbClr val="000000"/>
                </a:solidFill>
                <a:latin typeface="Calibri"/>
              </a:rPr>
              <a:t>Agents that plan ahead</a:t>
            </a:r>
          </a:p>
          <a:p>
            <a:r>
              <a:rPr sz="2800" b="0" i="0" dirty="0">
                <a:solidFill>
                  <a:srgbClr val="000000"/>
                </a:solidFill>
                <a:latin typeface="Calibri"/>
              </a:rPr>
              <a:t>Search problems (worked example: water jugs)</a:t>
            </a:r>
          </a:p>
          <a:p>
            <a:r>
              <a:rPr sz="2800" b="0" i="0" dirty="0">
                <a:solidFill>
                  <a:srgbClr val="000000"/>
                </a:solidFill>
                <a:latin typeface="Calibri"/>
              </a:rPr>
              <a:t>Uninformed search methods, each with a step-by-step worked example</a:t>
            </a:r>
          </a:p>
          <a:p>
            <a:pPr lvl="1"/>
            <a:r>
              <a:rPr sz="2400" b="0" i="0" dirty="0">
                <a:solidFill>
                  <a:srgbClr val="000000"/>
                </a:solidFill>
                <a:latin typeface="Calibri"/>
              </a:rPr>
              <a:t>Depth-first search</a:t>
            </a:r>
          </a:p>
          <a:p>
            <a:pPr lvl="1"/>
            <a:r>
              <a:rPr sz="2400" b="0" i="0">
                <a:solidFill>
                  <a:srgbClr val="000000"/>
                </a:solidFill>
                <a:latin typeface="Calibri"/>
              </a:rPr>
              <a:t>Breadth-first search</a:t>
            </a:r>
          </a:p>
          <a:p>
            <a:pPr lvl="1"/>
            <a:r>
              <a:rPr sz="2400" b="0" i="0" dirty="0">
                <a:solidFill>
                  <a:srgbClr val="000000"/>
                </a:solidFill>
                <a:latin typeface="Calibri"/>
              </a:rPr>
              <a:t>Iterative deepening</a:t>
            </a:r>
          </a:p>
          <a:p>
            <a:pPr lvl="1"/>
            <a:r>
              <a:rPr sz="2400" b="0" i="0" dirty="0">
                <a:solidFill>
                  <a:srgbClr val="000000"/>
                </a:solidFill>
                <a:latin typeface="Calibri"/>
              </a:rPr>
              <a:t>Uniform-cost search</a:t>
            </a:r>
          </a:p>
          <a:p>
            <a:r>
              <a:rPr sz="2800" b="0" i="0" dirty="0">
                <a:solidFill>
                  <a:srgbClr val="000000"/>
                </a:solidFill>
                <a:latin typeface="Calibri"/>
              </a:rPr>
              <a:t>Practice problem and Homework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399032"/>
            <a:ext cx="6675120" cy="4727448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  <a:latin typeface="Calibri"/>
              </a:rPr>
              <a:t>An </a:t>
            </a:r>
            <a:r>
              <a:rPr sz="2400" b="1">
                <a:solidFill>
                  <a:srgbClr val="000000"/>
                </a:solidFill>
                <a:latin typeface="Calibri"/>
              </a:rPr>
              <a:t>agent</a:t>
            </a:r>
            <a:r>
              <a:rPr sz="2400" b="0">
                <a:solidFill>
                  <a:srgbClr val="000000"/>
                </a:solidFill>
                <a:latin typeface="Calibri"/>
              </a:rPr>
              <a:t> is anything that </a:t>
            </a:r>
            <a:r>
              <a:rPr sz="2400" b="1">
                <a:solidFill>
                  <a:srgbClr val="000000"/>
                </a:solidFill>
                <a:latin typeface="Calibri"/>
              </a:rPr>
              <a:t>perceives</a:t>
            </a:r>
            <a:r>
              <a:rPr sz="2400" b="0">
                <a:solidFill>
                  <a:srgbClr val="000000"/>
                </a:solidFill>
                <a:latin typeface="Calibri"/>
              </a:rPr>
              <a:t> its environment through </a:t>
            </a:r>
            <a:r>
              <a:rPr sz="2400" b="1">
                <a:solidFill>
                  <a:srgbClr val="000000"/>
                </a:solidFill>
                <a:latin typeface="Calibri"/>
              </a:rPr>
              <a:t>sensors</a:t>
            </a:r>
            <a:r>
              <a:rPr sz="2400" b="0">
                <a:solidFill>
                  <a:srgbClr val="000000"/>
                </a:solidFill>
                <a:latin typeface="Calibri"/>
              </a:rPr>
              <a:t> and </a:t>
            </a:r>
            <a:r>
              <a:rPr sz="2400" b="1">
                <a:solidFill>
                  <a:srgbClr val="000000"/>
                </a:solidFill>
                <a:latin typeface="Calibri"/>
              </a:rPr>
              <a:t>acts</a:t>
            </a:r>
            <a:r>
              <a:rPr sz="2400" b="0">
                <a:solidFill>
                  <a:srgbClr val="000000"/>
                </a:solidFill>
                <a:latin typeface="Calibri"/>
              </a:rPr>
              <a:t> on it through </a:t>
            </a:r>
            <a:r>
              <a:rPr sz="2400" b="1">
                <a:solidFill>
                  <a:srgbClr val="000000"/>
                </a:solidFill>
                <a:latin typeface="Calibri"/>
              </a:rPr>
              <a:t>actuators</a:t>
            </a:r>
          </a:p>
          <a:p>
            <a:pPr lvl="1"/>
            <a:r>
              <a:rPr sz="2000" b="0">
                <a:solidFill>
                  <a:srgbClr val="000000"/>
                </a:solidFill>
                <a:latin typeface="Calibri"/>
              </a:rPr>
              <a:t>Physical: robots, self-driving cars, drones</a:t>
            </a:r>
          </a:p>
          <a:p>
            <a:pPr lvl="1"/>
            <a:r>
              <a:rPr sz="2000" b="0">
                <a:solidFill>
                  <a:srgbClr val="000000"/>
                </a:solidFill>
                <a:latin typeface="Calibri"/>
              </a:rPr>
              <a:t>Software: chatbots, recommender systems, game AI, trading bots</a:t>
            </a:r>
          </a:p>
          <a:p>
            <a:r>
              <a:rPr sz="2400" b="0">
                <a:solidFill>
                  <a:srgbClr val="000000"/>
                </a:solidFill>
                <a:latin typeface="Calibri"/>
              </a:rPr>
              <a:t>The </a:t>
            </a:r>
            <a:r>
              <a:rPr sz="2400" b="1">
                <a:solidFill>
                  <a:srgbClr val="000000"/>
                </a:solidFill>
                <a:latin typeface="Calibri"/>
              </a:rPr>
              <a:t>agent function</a:t>
            </a:r>
            <a:r>
              <a:rPr sz="2400" b="0">
                <a:solidFill>
                  <a:srgbClr val="000000"/>
                </a:solidFill>
                <a:latin typeface="Calibri"/>
              </a:rPr>
              <a:t> maps the percept history to an action</a:t>
            </a:r>
          </a:p>
          <a:p>
            <a:r>
              <a:rPr sz="2400" b="0">
                <a:solidFill>
                  <a:srgbClr val="000000"/>
                </a:solidFill>
                <a:latin typeface="Calibri"/>
              </a:rPr>
              <a:t>The </a:t>
            </a:r>
            <a:r>
              <a:rPr sz="2400" b="1">
                <a:solidFill>
                  <a:srgbClr val="000000"/>
                </a:solidFill>
                <a:latin typeface="Calibri"/>
              </a:rPr>
              <a:t>agent program</a:t>
            </a:r>
            <a:r>
              <a:rPr sz="2400" b="0">
                <a:solidFill>
                  <a:srgbClr val="000000"/>
                </a:solidFill>
                <a:latin typeface="Calibri"/>
              </a:rPr>
              <a:t> implements that function on a real machine</a:t>
            </a:r>
          </a:p>
          <a:p>
            <a:r>
              <a:rPr sz="2400" b="0">
                <a:solidFill>
                  <a:srgbClr val="000000"/>
                </a:solidFill>
                <a:latin typeface="Calibri"/>
              </a:rPr>
              <a:t>Designing an agent means understanding the </a:t>
            </a:r>
            <a:r>
              <a:rPr sz="2400" b="1">
                <a:solidFill>
                  <a:srgbClr val="000000"/>
                </a:solidFill>
                <a:latin typeface="Calibri"/>
              </a:rPr>
              <a:t>task</a:t>
            </a:r>
            <a:r>
              <a:rPr sz="2400" b="0">
                <a:solidFill>
                  <a:srgbClr val="000000"/>
                </a:solidFill>
                <a:latin typeface="Calibri"/>
              </a:rPr>
              <a:t>, the </a:t>
            </a:r>
            <a:r>
              <a:rPr sz="2400" b="1">
                <a:solidFill>
                  <a:srgbClr val="000000"/>
                </a:solidFill>
                <a:latin typeface="Calibri"/>
              </a:rPr>
              <a:t>environment</a:t>
            </a:r>
            <a:r>
              <a:rPr sz="2400" b="0">
                <a:solidFill>
                  <a:srgbClr val="000000"/>
                </a:solidFill>
                <a:latin typeface="Calibri"/>
              </a:rPr>
              <a:t>, and the </a:t>
            </a:r>
            <a:r>
              <a:rPr sz="2400" b="1">
                <a:solidFill>
                  <a:srgbClr val="000000"/>
                </a:solidFill>
                <a:latin typeface="Calibri"/>
              </a:rPr>
              <a:t>actions</a:t>
            </a:r>
            <a:r>
              <a:rPr sz="2400" b="0">
                <a:solidFill>
                  <a:srgbClr val="000000"/>
                </a:solidFill>
                <a:latin typeface="Calibri"/>
              </a:rPr>
              <a:t> available</a:t>
            </a:r>
          </a:p>
        </p:txBody>
      </p:sp>
      <p:pic>
        <p:nvPicPr>
          <p:cNvPr id="4" name="Picture 3" descr="rational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104" y="1117600"/>
            <a:ext cx="4480560" cy="5538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Good Behavior: The Concept of Rationality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300" b="0">
                <a:solidFill>
                  <a:srgbClr val="000000"/>
                </a:solidFill>
                <a:latin typeface="Calibri"/>
              </a:rPr>
              <a:t>A </a:t>
            </a:r>
            <a:r>
              <a:rPr sz="2300" b="1">
                <a:solidFill>
                  <a:srgbClr val="000000"/>
                </a:solidFill>
                <a:latin typeface="Calibri"/>
              </a:rPr>
              <a:t>rational agent</a:t>
            </a:r>
            <a:r>
              <a:rPr sz="2300" b="0">
                <a:solidFill>
                  <a:srgbClr val="000000"/>
                </a:solidFill>
                <a:latin typeface="Calibri"/>
              </a:rPr>
              <a:t> chooses the action that is expected to </a:t>
            </a:r>
            <a:r>
              <a:rPr sz="2300" b="1">
                <a:solidFill>
                  <a:srgbClr val="000000"/>
                </a:solidFill>
                <a:latin typeface="Calibri"/>
              </a:rPr>
              <a:t>maximize its performance measure</a:t>
            </a:r>
            <a:r>
              <a:rPr sz="2300" b="0">
                <a:solidFill>
                  <a:srgbClr val="000000"/>
                </a:solidFill>
                <a:latin typeface="Calibri"/>
              </a:rPr>
              <a:t>, given:</a:t>
            </a:r>
          </a:p>
          <a:p>
            <a:pPr lvl="1"/>
            <a:r>
              <a:rPr sz="1900" b="0">
                <a:solidFill>
                  <a:srgbClr val="000000"/>
                </a:solidFill>
                <a:latin typeface="Calibri"/>
              </a:rPr>
              <a:t>what it has perceived so far (the percept sequence)</a:t>
            </a:r>
          </a:p>
          <a:p>
            <a:pPr lvl="1"/>
            <a:r>
              <a:rPr sz="1900" b="0">
                <a:solidFill>
                  <a:srgbClr val="000000"/>
                </a:solidFill>
                <a:latin typeface="Calibri"/>
              </a:rPr>
              <a:t>what it knows about the environment</a:t>
            </a:r>
          </a:p>
          <a:p>
            <a:pPr lvl="1"/>
            <a:r>
              <a:rPr sz="1900" b="0">
                <a:solidFill>
                  <a:srgbClr val="000000"/>
                </a:solidFill>
                <a:latin typeface="Calibri"/>
              </a:rPr>
              <a:t>the actions it can perform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Rational ≠ omniscient: it maximizes </a:t>
            </a:r>
            <a:r>
              <a:rPr sz="2300" b="1">
                <a:solidFill>
                  <a:srgbClr val="000000"/>
                </a:solidFill>
                <a:latin typeface="Calibri"/>
              </a:rPr>
              <a:t>expected</a:t>
            </a:r>
            <a:r>
              <a:rPr sz="2300" b="0">
                <a:solidFill>
                  <a:srgbClr val="000000"/>
                </a:solidFill>
                <a:latin typeface="Calibri"/>
              </a:rPr>
              <a:t> performance, not actual outcome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Rational ≠ perfect: agents should </a:t>
            </a:r>
            <a:r>
              <a:rPr sz="2300" b="1">
                <a:solidFill>
                  <a:srgbClr val="000000"/>
                </a:solidFill>
                <a:latin typeface="Calibri"/>
              </a:rPr>
              <a:t>gather information</a:t>
            </a:r>
            <a:r>
              <a:rPr sz="2300" b="0">
                <a:solidFill>
                  <a:srgbClr val="000000"/>
                </a:solidFill>
                <a:latin typeface="Calibri"/>
              </a:rPr>
              <a:t> and </a:t>
            </a:r>
            <a:r>
              <a:rPr sz="2300" b="1">
                <a:solidFill>
                  <a:srgbClr val="000000"/>
                </a:solidFill>
                <a:latin typeface="Calibri"/>
              </a:rPr>
              <a:t>learn</a:t>
            </a:r>
            <a:r>
              <a:rPr sz="2300" b="0">
                <a:solidFill>
                  <a:srgbClr val="000000"/>
                </a:solidFill>
                <a:latin typeface="Calibri"/>
              </a:rPr>
              <a:t> when they can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The </a:t>
            </a:r>
            <a:r>
              <a:rPr sz="2300" b="1">
                <a:solidFill>
                  <a:srgbClr val="000000"/>
                </a:solidFill>
                <a:latin typeface="Calibri"/>
              </a:rPr>
              <a:t>performance measure</a:t>
            </a:r>
            <a:r>
              <a:rPr sz="2300" b="0">
                <a:solidFill>
                  <a:srgbClr val="000000"/>
                </a:solidFill>
                <a:latin typeface="Calibri"/>
              </a:rPr>
              <a:t> defines success. Choose it carefully: reward what you want achieved, not how you think the agent should behave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Specifying the Task Environment: PEAS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Before designing an agent, describe its task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F3864"/>
                </a:solidFill>
                <a:latin typeface="Calibri"/>
              </a:rPr>
              <a:t>Example: an automated taxi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77724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304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Performance measure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How do we judge success?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42316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Safe, fast, legal, comfortable trip; maximize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688"/>
            <a:ext cx="77724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3697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Environment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Where does the agent operate?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355848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Roads, traffic, pedestrians, weather, passengers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51376"/>
            <a:ext cx="77724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169663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Actuators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How does it act?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288536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Steering, accelerator, brake, signals, horn, 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84064"/>
            <a:ext cx="77724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10235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Sensors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How does it perceive?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221224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Cameras, lidar, radar, GPS, speedometer, odometer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PEAS Examples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113842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Actuators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Sensors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Medical diagnosis system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Healthy patient, lower costs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Patient, hospital, staff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Display of questions, tests, diagnoses, treatments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Touchscreen or voice entry of symptoms and findings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Crop-monitoring drone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Early pest detection, area covered, battery use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Farms, weather, crops, livestock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Rotors, camera gimbal, alerts to farmers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Cameras, multispectral sensor, GPS, altimeter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Pac-Man agent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Score: eat food, avoid ghosts, finish fast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Maze, food pellets, ghosts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Move N, S, E, W, or Stop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Game state: positions of walls, food, ghosts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Customer-support chatbot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Issues resolved, customer satisfaction, cost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Customers, product data, ticket system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Text replies, ticket updates, hand-off to a human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Customer messages, account records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852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00000"/>
                </a:solidFill>
                <a:latin typeface="Calibri"/>
              </a:rPr>
              <a:t>Quick exercise: write the PEAS description for a GPS navigation app used in Georgetown traffic.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Properties of Task Environments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1133856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Question to ask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Fully vs. partially observable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Can the sensors see the complete relevant state?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Chess vs. poker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Deterministic vs. stochastic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Is the next state completely determined by the current state and action?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Chess vs. weather forecasting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Episodic vs. sequential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Does the current decision affect future decisions?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Spam filter vs. chess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Static vs. dynamic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Can the world change while the agent is deliberating?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Crossword vs. stock market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Discrete vs. continuous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Are states, time, and actions countable?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Chess vs. robot navigation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Single vs. multi-agent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Are other agents acting in the environment?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Crossword vs. soccer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The hardest case: partially observable, stochastic, sequential, dynamic, continuous, multi-agent (e.g. driving a taxi).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Classify These Environments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Observable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Episodic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Agents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Chess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Poker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Stock market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Robot navigation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Email spam filter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Soccer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8-puzzle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8978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00000"/>
                </a:solidFill>
                <a:latin typeface="Calibri"/>
              </a:rPr>
              <a:t>Work with a neighbour for 5 minutes, then we fill it in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Classify These Environments: Answers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Observable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Episodic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Agents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Chess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Poker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Stock market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Robot navigation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Email spam filter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Episodic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Soccer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8-puzzle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Discrete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8978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Several answers are debatable: what matters is the reasoning. The 8-puzzle row is the setting for today’s search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Types of Agents: Simple Reflex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399032"/>
            <a:ext cx="5669280" cy="4727448"/>
          </a:xfrm>
        </p:spPr>
        <p:txBody>
          <a:bodyPr/>
          <a:lstStyle/>
          <a:p>
            <a:r>
              <a:rPr sz="2200" b="0">
                <a:solidFill>
                  <a:srgbClr val="000000"/>
                </a:solidFill>
                <a:latin typeface="Calibri"/>
              </a:rPr>
              <a:t>Choose an action using only the </a:t>
            </a:r>
            <a:r>
              <a:rPr sz="2200" b="1">
                <a:solidFill>
                  <a:srgbClr val="000000"/>
                </a:solidFill>
                <a:latin typeface="Calibri"/>
              </a:rPr>
              <a:t>current percept</a:t>
            </a:r>
            <a:r>
              <a:rPr sz="2200" b="0">
                <a:solidFill>
                  <a:srgbClr val="000000"/>
                </a:solidFill>
                <a:latin typeface="Calibri"/>
              </a:rPr>
              <a:t> and </a:t>
            </a:r>
            <a:r>
              <a:rPr sz="2200" b="1">
                <a:solidFill>
                  <a:srgbClr val="000000"/>
                </a:solidFill>
                <a:latin typeface="Calibri"/>
              </a:rPr>
              <a:t>condition–action rules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“If the car in front is braking, then brake”</a:t>
            </a:r>
          </a:p>
          <a:p>
            <a:r>
              <a:rPr sz="2200" b="0">
                <a:solidFill>
                  <a:srgbClr val="000000"/>
                </a:solidFill>
                <a:latin typeface="Calibri"/>
              </a:rPr>
              <a:t>Simple and fast, but only works if the environment is </a:t>
            </a:r>
            <a:r>
              <a:rPr sz="2200" b="1">
                <a:solidFill>
                  <a:srgbClr val="000000"/>
                </a:solidFill>
                <a:latin typeface="Calibri"/>
              </a:rPr>
              <a:t>fully observable</a:t>
            </a:r>
          </a:p>
          <a:p>
            <a:r>
              <a:rPr sz="2200" b="0">
                <a:solidFill>
                  <a:srgbClr val="000000"/>
                </a:solidFill>
                <a:latin typeface="Calibri"/>
              </a:rPr>
              <a:t>Example: a thermostat; a spam filter keyed on a list of banned words</a:t>
            </a:r>
          </a:p>
        </p:txBody>
      </p:sp>
      <p:pic>
        <p:nvPicPr>
          <p:cNvPr id="4" name="Picture 3" descr="snapsho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486400" cy="3497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Model-Based and 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399032"/>
            <a:ext cx="5669280" cy="4727448"/>
          </a:xfrm>
        </p:spPr>
        <p:txBody>
          <a:bodyPr/>
          <a:lstStyle/>
          <a:p>
            <a:r>
              <a:rPr sz="2100" b="1">
                <a:solidFill>
                  <a:srgbClr val="000000"/>
                </a:solidFill>
                <a:latin typeface="Calibri"/>
              </a:rPr>
              <a:t>Model-based reflex:</a:t>
            </a:r>
            <a:r>
              <a:rPr sz="2100" b="0">
                <a:solidFill>
                  <a:srgbClr val="000000"/>
                </a:solidFill>
                <a:latin typeface="Calibri"/>
              </a:rPr>
              <a:t> keep an internal </a:t>
            </a:r>
            <a:r>
              <a:rPr sz="2100" b="1">
                <a:solidFill>
                  <a:srgbClr val="000000"/>
                </a:solidFill>
                <a:latin typeface="Calibri"/>
              </a:rPr>
              <a:t>state</a:t>
            </a:r>
            <a:r>
              <a:rPr sz="2100" b="0">
                <a:solidFill>
                  <a:srgbClr val="000000"/>
                </a:solidFill>
                <a:latin typeface="Calibri"/>
              </a:rPr>
              <a:t> that tracks the parts of the world it cannot currently see</a:t>
            </a:r>
          </a:p>
          <a:p>
            <a:pPr lvl="1"/>
            <a:r>
              <a:rPr sz="1700" b="0">
                <a:solidFill>
                  <a:srgbClr val="000000"/>
                </a:solidFill>
                <a:latin typeface="Calibri"/>
              </a:rPr>
              <a:t>Needs a model of how the world evolves and what its actions do</a:t>
            </a:r>
          </a:p>
          <a:p>
            <a:r>
              <a:rPr sz="2100" b="1">
                <a:solidFill>
                  <a:srgbClr val="000000"/>
                </a:solidFill>
                <a:latin typeface="Calibri"/>
              </a:rPr>
              <a:t>Goal-based:</a:t>
            </a:r>
            <a:r>
              <a:rPr sz="2100" b="0">
                <a:solidFill>
                  <a:srgbClr val="000000"/>
                </a:solidFill>
                <a:latin typeface="Calibri"/>
              </a:rPr>
              <a:t> ask “what will happen if I do action A?” and pick actions that reach a </a:t>
            </a:r>
            <a:r>
              <a:rPr sz="2100" b="1">
                <a:solidFill>
                  <a:srgbClr val="000000"/>
                </a:solidFill>
                <a:latin typeface="Calibri"/>
              </a:rPr>
              <a:t>goal</a:t>
            </a:r>
          </a:p>
          <a:p>
            <a:pPr lvl="1"/>
            <a:r>
              <a:rPr sz="1700" b="0">
                <a:solidFill>
                  <a:srgbClr val="000000"/>
                </a:solidFill>
                <a:latin typeface="Calibri"/>
              </a:rPr>
              <a:t>This is where </a:t>
            </a:r>
            <a:r>
              <a:rPr sz="1700" b="1">
                <a:solidFill>
                  <a:srgbClr val="000000"/>
                </a:solidFill>
                <a:latin typeface="Calibri"/>
              </a:rPr>
              <a:t>search and planning</a:t>
            </a:r>
            <a:r>
              <a:rPr sz="1700" b="0">
                <a:solidFill>
                  <a:srgbClr val="000000"/>
                </a:solidFill>
                <a:latin typeface="Calibri"/>
              </a:rPr>
              <a:t> come in: today’s topic</a:t>
            </a:r>
          </a:p>
          <a:p>
            <a:r>
              <a:rPr sz="2100" b="0">
                <a:solidFill>
                  <a:srgbClr val="000000"/>
                </a:solidFill>
                <a:latin typeface="Calibri"/>
              </a:rPr>
              <a:t>Example: a navigation app planning a route to your destination</a:t>
            </a:r>
          </a:p>
        </p:txBody>
      </p:sp>
      <p:pic>
        <p:nvPicPr>
          <p:cNvPr id="4" name="Picture 3" descr="snapsho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486400" cy="3444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Utility-Based and Learning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399032"/>
            <a:ext cx="6400800" cy="4727448"/>
          </a:xfrm>
        </p:spPr>
        <p:txBody>
          <a:bodyPr/>
          <a:lstStyle/>
          <a:p>
            <a:r>
              <a:rPr sz="2100" b="1">
                <a:solidFill>
                  <a:srgbClr val="000000"/>
                </a:solidFill>
                <a:latin typeface="Calibri"/>
              </a:rPr>
              <a:t>Utility-based:</a:t>
            </a:r>
            <a:r>
              <a:rPr sz="2100" b="0">
                <a:solidFill>
                  <a:srgbClr val="000000"/>
                </a:solidFill>
                <a:latin typeface="Calibri"/>
              </a:rPr>
              <a:t> goals are not enough when there are trade-offs. A </a:t>
            </a:r>
            <a:r>
              <a:rPr sz="2100" b="1">
                <a:solidFill>
                  <a:srgbClr val="000000"/>
                </a:solidFill>
                <a:latin typeface="Calibri"/>
              </a:rPr>
              <a:t>utility function</a:t>
            </a:r>
            <a:r>
              <a:rPr sz="2100" b="0">
                <a:solidFill>
                  <a:srgbClr val="000000"/>
                </a:solidFill>
                <a:latin typeface="Calibri"/>
              </a:rPr>
              <a:t> scores how good each outcome is</a:t>
            </a:r>
          </a:p>
          <a:p>
            <a:pPr lvl="1"/>
            <a:r>
              <a:rPr sz="1700" b="0">
                <a:solidFill>
                  <a:srgbClr val="000000"/>
                </a:solidFill>
                <a:latin typeface="Calibri"/>
              </a:rPr>
              <a:t>A self-driving car balancing safety, speed, and comfort</a:t>
            </a:r>
          </a:p>
          <a:p>
            <a:r>
              <a:rPr sz="2100" b="1">
                <a:solidFill>
                  <a:srgbClr val="000000"/>
                </a:solidFill>
                <a:latin typeface="Calibri"/>
              </a:rPr>
              <a:t>Learning agents</a:t>
            </a:r>
            <a:r>
              <a:rPr sz="2100" b="0">
                <a:solidFill>
                  <a:srgbClr val="000000"/>
                </a:solidFill>
                <a:latin typeface="Calibri"/>
              </a:rPr>
              <a:t> improve with experience:</a:t>
            </a:r>
          </a:p>
          <a:p>
            <a:pPr lvl="1"/>
            <a:r>
              <a:rPr sz="1700" b="0">
                <a:solidFill>
                  <a:srgbClr val="000000"/>
                </a:solidFill>
                <a:latin typeface="Calibri"/>
              </a:rPr>
              <a:t>Critic gives feedback against a performance standard</a:t>
            </a:r>
          </a:p>
          <a:p>
            <a:pPr lvl="1"/>
            <a:r>
              <a:rPr sz="1700" b="0">
                <a:solidFill>
                  <a:srgbClr val="000000"/>
                </a:solidFill>
                <a:latin typeface="Calibri"/>
              </a:rPr>
              <a:t>Learning element updates the agent; problem generator suggests exploration</a:t>
            </a:r>
          </a:p>
          <a:p>
            <a:r>
              <a:rPr sz="2100" b="0">
                <a:solidFill>
                  <a:srgbClr val="000000"/>
                </a:solidFill>
                <a:latin typeface="Calibri"/>
              </a:rPr>
              <a:t>Course roadmap: goal-based (search) → utility-based (MDPs) → learning (RL, ML)</a:t>
            </a:r>
          </a:p>
        </p:txBody>
      </p:sp>
      <p:pic>
        <p:nvPicPr>
          <p:cNvPr id="4" name="Picture 3" descr="learning_clip_image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846320" cy="33551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Calibri"/>
              </a:rPr>
              <a:t>Problem-Solving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300" b="0">
                <a:solidFill>
                  <a:srgbClr val="000000"/>
                </a:solidFill>
                <a:latin typeface="Calibri"/>
              </a:rPr>
              <a:t>When the right action is not obvious, a goal-based agent must </a:t>
            </a:r>
            <a:r>
              <a:rPr sz="2300" b="1">
                <a:solidFill>
                  <a:srgbClr val="000000"/>
                </a:solidFill>
                <a:latin typeface="Calibri"/>
              </a:rPr>
              <a:t>plan ahead</a:t>
            </a:r>
            <a:r>
              <a:rPr sz="2300" b="0">
                <a:solidFill>
                  <a:srgbClr val="000000"/>
                </a:solidFill>
                <a:latin typeface="Calibri"/>
              </a:rPr>
              <a:t>: consider a sequence of actions that leads to a goal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Such an agent is a </a:t>
            </a:r>
            <a:r>
              <a:rPr sz="2300" b="1">
                <a:solidFill>
                  <a:srgbClr val="000000"/>
                </a:solidFill>
                <a:latin typeface="Calibri"/>
              </a:rPr>
              <a:t>problem-solving agent</a:t>
            </a:r>
            <a:r>
              <a:rPr sz="2300" b="0">
                <a:solidFill>
                  <a:srgbClr val="000000"/>
                </a:solidFill>
                <a:latin typeface="Calibri"/>
              </a:rPr>
              <a:t>; the computation it does is </a:t>
            </a:r>
            <a:r>
              <a:rPr sz="2300" b="1">
                <a:solidFill>
                  <a:srgbClr val="000000"/>
                </a:solidFill>
                <a:latin typeface="Calibri"/>
              </a:rPr>
              <a:t>search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We assume the environment is </a:t>
            </a:r>
            <a:r>
              <a:rPr sz="2300" b="1">
                <a:solidFill>
                  <a:srgbClr val="000000"/>
                </a:solidFill>
                <a:latin typeface="Calibri"/>
              </a:rPr>
              <a:t>fully observable, deterministic, static, discrete, and known</a:t>
            </a:r>
          </a:p>
          <a:p>
            <a:pPr lvl="1"/>
            <a:r>
              <a:rPr sz="1900" b="0">
                <a:solidFill>
                  <a:srgbClr val="000000"/>
                </a:solidFill>
                <a:latin typeface="Calibri"/>
              </a:rPr>
              <a:t>Then a solution is simply a fixed sequence of actions</a:t>
            </a:r>
          </a:p>
          <a:p>
            <a:r>
              <a:rPr sz="2300" b="0">
                <a:solidFill>
                  <a:srgbClr val="000000"/>
                </a:solidFill>
                <a:latin typeface="Calibri"/>
              </a:rPr>
              <a:t>Four steps: </a:t>
            </a:r>
            <a:r>
              <a:rPr sz="2300" b="1">
                <a:solidFill>
                  <a:srgbClr val="000000"/>
                </a:solidFill>
                <a:latin typeface="Calibri"/>
              </a:rPr>
              <a:t>formulate the goal</a:t>
            </a:r>
            <a:r>
              <a:rPr sz="2300" b="0">
                <a:solidFill>
                  <a:srgbClr val="000000"/>
                </a:solidFill>
                <a:latin typeface="Calibri"/>
              </a:rPr>
              <a:t>  →  </a:t>
            </a:r>
            <a:r>
              <a:rPr sz="2300" b="1">
                <a:solidFill>
                  <a:srgbClr val="000000"/>
                </a:solidFill>
                <a:latin typeface="Calibri"/>
              </a:rPr>
              <a:t>formulate the problem</a:t>
            </a:r>
            <a:r>
              <a:rPr sz="2300" b="0">
                <a:solidFill>
                  <a:srgbClr val="000000"/>
                </a:solidFill>
                <a:latin typeface="Calibri"/>
              </a:rPr>
              <a:t>  →  </a:t>
            </a:r>
            <a:r>
              <a:rPr sz="2300" b="1">
                <a:solidFill>
                  <a:srgbClr val="000000"/>
                </a:solidFill>
                <a:latin typeface="Calibri"/>
              </a:rPr>
              <a:t>search</a:t>
            </a:r>
            <a:r>
              <a:rPr sz="2300" b="0">
                <a:solidFill>
                  <a:srgbClr val="000000"/>
                </a:solidFill>
                <a:latin typeface="Calibri"/>
              </a:rPr>
              <a:t> for a solution  →  </a:t>
            </a:r>
            <a:r>
              <a:rPr sz="2300" b="1">
                <a:solidFill>
                  <a:srgbClr val="000000"/>
                </a:solidFill>
                <a:latin typeface="Calibri"/>
              </a:rPr>
              <a:t>execute</a:t>
            </a:r>
            <a:r>
              <a:rPr sz="2300" b="0">
                <a:solidFill>
                  <a:srgbClr val="000000"/>
                </a:solidFill>
                <a:latin typeface="Calibri"/>
              </a:rPr>
              <a:t>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that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4800" y="1295400"/>
            <a:ext cx="6603998" cy="4952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513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Reflex Agents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363539" y="1657353"/>
            <a:ext cx="588486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Reflex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Choose action based on current percept (and maybe memory)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May have memory or a model of the world’s current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Do not consider the future consequences of their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IS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a reflex agent be rational?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6926266" y="1804993"/>
          <a:ext cx="4579937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580017" imgH="1607619" progId="MSPhotoEd.3">
                  <p:embed/>
                </p:oleObj>
              </mc:Choice>
              <mc:Fallback>
                <p:oleObj name="Photo Editor Photo" r:id="rId3" imgW="4580017" imgH="1607619" progId="MSPhotoEd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804993"/>
                        <a:ext cx="4579937" cy="160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6899273" y="4106865"/>
          <a:ext cx="4579939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4580017" imgH="1653333" progId="MSPhotoEd.3">
                  <p:embed/>
                </p:oleObj>
              </mc:Choice>
              <mc:Fallback>
                <p:oleObj name="Photo Editor Photo" r:id="rId5" imgW="4580017" imgH="1653333" progId="MSPhotoEd.3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3" y="4106865"/>
                        <a:ext cx="4579939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Box 7"/>
          <p:cNvSpPr txBox="1">
            <a:spLocks noChangeArrowheads="1"/>
          </p:cNvSpPr>
          <p:nvPr/>
        </p:nvSpPr>
        <p:spPr bwMode="auto">
          <a:xfrm>
            <a:off x="8991600" y="6183872"/>
            <a:ext cx="305911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[Demo: reflex optimal (L2D1)]</a:t>
            </a:r>
          </a:p>
        </p:txBody>
      </p:sp>
      <p:pic>
        <p:nvPicPr>
          <p:cNvPr id="8" name="Picture 4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582" y="1677717"/>
            <a:ext cx="5270922" cy="4128793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8991600" y="6488672"/>
            <a:ext cx="3200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[Demo: reflex optimal (L2D2)]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Reflex Optimal</a:t>
            </a:r>
          </a:p>
        </p:txBody>
      </p:sp>
      <p:pic>
        <p:nvPicPr>
          <p:cNvPr id="5" name="Lecture2-demo1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219200"/>
            <a:ext cx="982726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Reflex Odd </a:t>
            </a:r>
          </a:p>
        </p:txBody>
      </p:sp>
      <p:pic>
        <p:nvPicPr>
          <p:cNvPr id="5" name="Lecture2-demo2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5400" y="1143000"/>
            <a:ext cx="9677400" cy="54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9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Planning Agents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5943599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Planning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Ask “what if”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Decisions based on (hypothesized) consequences of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have a model of how the world evolves in response to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formulate a goal (test)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WOULD BE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Optimal vs. complete planning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Planning vs. </a:t>
            </a:r>
            <a:r>
              <a:rPr lang="en-US" sz="2400" dirty="0" err="1"/>
              <a:t>replanning</a:t>
            </a:r>
            <a:endParaRPr lang="en-US" sz="2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899276" y="4135444"/>
          <a:ext cx="45958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595258" imgH="1623201" progId="MSPhotoEd.3">
                  <p:embed/>
                </p:oleObj>
              </mc:Choice>
              <mc:Fallback>
                <p:oleObj name="Photo Editor Photo" r:id="rId2" imgW="4595258" imgH="1623201" progId="MSPhotoEd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6" y="4135444"/>
                        <a:ext cx="45958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6926266" y="1797049"/>
          <a:ext cx="4579937" cy="160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4580017" imgH="1607619" progId="MSPhotoEd.3">
                  <p:embed/>
                </p:oleObj>
              </mc:Choice>
              <mc:Fallback>
                <p:oleObj name="Photo Editor Photo" r:id="rId4" imgW="4580017" imgH="1607619" progId="MSPhotoEd.3">
                  <p:embed/>
                  <p:pic>
                    <p:nvPicPr>
                      <p:cNvPr id="20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797049"/>
                        <a:ext cx="4579937" cy="1608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Box 7"/>
          <p:cNvSpPr txBox="1">
            <a:spLocks noChangeArrowheads="1"/>
          </p:cNvSpPr>
          <p:nvPr/>
        </p:nvSpPr>
        <p:spPr bwMode="auto">
          <a:xfrm>
            <a:off x="9144000" y="6172200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[Demo: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replanning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(L2D3)]</a:t>
            </a:r>
          </a:p>
        </p:txBody>
      </p:sp>
      <p:pic>
        <p:nvPicPr>
          <p:cNvPr id="7" name="Picture 2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043" y="1747400"/>
            <a:ext cx="5262855" cy="411999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144000" y="6488672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[Demo: mastermind (L2D4)]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</a:t>
            </a:r>
            <a:r>
              <a:rPr lang="en-US" dirty="0" err="1"/>
              <a:t>Replanning</a:t>
            </a:r>
            <a:endParaRPr lang="en-US" dirty="0"/>
          </a:p>
        </p:txBody>
      </p:sp>
      <p:pic>
        <p:nvPicPr>
          <p:cNvPr id="3" name="Lecture2-demo3-plan-fast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0444" y="1100766"/>
            <a:ext cx="10171113" cy="57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Mastermind</a:t>
            </a:r>
          </a:p>
        </p:txBody>
      </p:sp>
      <p:pic>
        <p:nvPicPr>
          <p:cNvPr id="5" name="Lecture2-demo4b-plan-slow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750" y="1143000"/>
            <a:ext cx="10096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8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164" y="1144408"/>
            <a:ext cx="8524096" cy="5226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984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search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problem</a:t>
            </a:r>
            <a:r>
              <a:rPr lang="en-US" sz="2800" dirty="0"/>
              <a:t> consists of: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state space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successor function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(with actions, costs)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start state and a goal test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solution</a:t>
            </a:r>
            <a:r>
              <a:rPr lang="en-US" sz="2800" dirty="0"/>
              <a:t> is a sequence of actions (a plan) which transforms the start state to a goal state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“E”,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Problems Are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7400" y="1372097"/>
            <a:ext cx="8302482" cy="4355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Traveling in Romania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1803" y="1676401"/>
            <a:ext cx="4495799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space:</a:t>
            </a:r>
          </a:p>
          <a:p>
            <a:pPr lvl="1" eaLnBrk="1" hangingPunct="1"/>
            <a:r>
              <a:rPr lang="en-US" sz="2000" dirty="0"/>
              <a:t>Cities</a:t>
            </a:r>
          </a:p>
          <a:p>
            <a:pPr eaLnBrk="1" hangingPunct="1"/>
            <a:r>
              <a:rPr lang="en-US" sz="2400" dirty="0"/>
              <a:t>Successor function:</a:t>
            </a:r>
          </a:p>
          <a:p>
            <a:pPr lvl="1" eaLnBrk="1" hangingPunct="1"/>
            <a:r>
              <a:rPr lang="en-US" sz="2000" dirty="0"/>
              <a:t>Roads: Go to adjacent city with cost = distance</a:t>
            </a:r>
          </a:p>
          <a:p>
            <a:pPr eaLnBrk="1" hangingPunct="1"/>
            <a:r>
              <a:rPr lang="en-US" sz="2400" dirty="0"/>
              <a:t>Start state:</a:t>
            </a:r>
          </a:p>
          <a:p>
            <a:pPr lvl="1" eaLnBrk="1" hangingPunct="1"/>
            <a:r>
              <a:rPr lang="en-US" sz="2000" dirty="0"/>
              <a:t>Arad</a:t>
            </a:r>
          </a:p>
          <a:p>
            <a:pPr eaLnBrk="1" hangingPunct="1"/>
            <a:r>
              <a:rPr lang="en-US" sz="2400" dirty="0"/>
              <a:t>Goal test:</a:t>
            </a:r>
          </a:p>
          <a:p>
            <a:pPr lvl="1" eaLnBrk="1" hangingPunct="1"/>
            <a:r>
              <a:rPr lang="en-US" sz="2000" dirty="0"/>
              <a:t>Is state == Bucharest?</a:t>
            </a:r>
          </a:p>
          <a:p>
            <a:pPr lvl="3" eaLnBrk="1" hangingPunct="1"/>
            <a:endParaRPr lang="en-US" sz="1200" dirty="0"/>
          </a:p>
          <a:p>
            <a:pPr eaLnBrk="1" hangingPunct="1"/>
            <a:r>
              <a:rPr lang="en-US" sz="2400" dirty="0"/>
              <a:t>Solution?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5557837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219200" y="3505200"/>
            <a:ext cx="9829800" cy="3048000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9202" y="1273178"/>
            <a:ext cx="9829801" cy="2003425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 a State Space?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00200" y="4086225"/>
            <a:ext cx="4038600" cy="2413000"/>
          </a:xfrm>
        </p:spPr>
        <p:txBody>
          <a:bodyPr/>
          <a:lstStyle/>
          <a:p>
            <a:r>
              <a:rPr lang="en-US" sz="2400" dirty="0"/>
              <a:t>Problem: </a:t>
            </a:r>
            <a:r>
              <a:rPr lang="en-US" sz="2400" dirty="0" err="1"/>
              <a:t>Pathing</a:t>
            </a:r>
            <a:endParaRPr lang="en-US" sz="2400" dirty="0"/>
          </a:p>
          <a:p>
            <a:pPr lvl="1"/>
            <a:r>
              <a:rPr lang="en-US" sz="2000" dirty="0"/>
              <a:t>States: (</a:t>
            </a:r>
            <a:r>
              <a:rPr lang="en-US" sz="2000" dirty="0" err="1"/>
              <a:t>x,y</a:t>
            </a:r>
            <a:r>
              <a:rPr lang="en-US" sz="2000" dirty="0"/>
              <a:t>) location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only</a:t>
            </a:r>
          </a:p>
          <a:p>
            <a:pPr lvl="1"/>
            <a:r>
              <a:rPr lang="en-US" sz="2000" dirty="0"/>
              <a:t>Goal test: is (</a:t>
            </a:r>
            <a:r>
              <a:rPr lang="en-US" sz="2000" dirty="0" err="1"/>
              <a:t>x,y</a:t>
            </a:r>
            <a:r>
              <a:rPr lang="en-US" sz="2000" dirty="0"/>
              <a:t>)=END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477000" y="4094167"/>
            <a:ext cx="3962400" cy="2405063"/>
          </a:xfrm>
        </p:spPr>
        <p:txBody>
          <a:bodyPr/>
          <a:lstStyle/>
          <a:p>
            <a:r>
              <a:rPr lang="en-US" sz="2400" dirty="0"/>
              <a:t>Problem: Eat-All-Dots</a:t>
            </a:r>
          </a:p>
          <a:p>
            <a:pPr lvl="1"/>
            <a:r>
              <a:rPr lang="en-US" sz="2000" dirty="0"/>
              <a:t>States: {(</a:t>
            </a:r>
            <a:r>
              <a:rPr lang="en-US" sz="2000" dirty="0" err="1"/>
              <a:t>x,y</a:t>
            </a:r>
            <a:r>
              <a:rPr lang="en-US" sz="2000" dirty="0"/>
              <a:t>), dot </a:t>
            </a:r>
            <a:r>
              <a:rPr lang="en-US" sz="2000" dirty="0" err="1"/>
              <a:t>booleans</a:t>
            </a:r>
            <a:r>
              <a:rPr lang="en-US" sz="2000" dirty="0"/>
              <a:t>}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and possibly a dot </a:t>
            </a:r>
            <a:r>
              <a:rPr lang="en-US" sz="2000" dirty="0" err="1"/>
              <a:t>boolean</a:t>
            </a:r>
            <a:endParaRPr lang="en-US" sz="2000" dirty="0"/>
          </a:p>
          <a:p>
            <a:pPr lvl="1"/>
            <a:r>
              <a:rPr lang="en-US" sz="2000" dirty="0"/>
              <a:t>Goal test: dots all false</a:t>
            </a:r>
          </a:p>
        </p:txBody>
      </p:sp>
      <p:sp>
        <p:nvSpPr>
          <p:cNvPr id="10247" name="TextBox 4"/>
          <p:cNvSpPr txBox="1">
            <a:spLocks noChangeArrowheads="1"/>
          </p:cNvSpPr>
          <p:nvPr/>
        </p:nvSpPr>
        <p:spPr bwMode="auto">
          <a:xfrm>
            <a:off x="1219201" y="1352497"/>
            <a:ext cx="97536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world state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includes every last detail of the environment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" y="3579814"/>
            <a:ext cx="121920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search state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keeps only the details needed for planning (abstraction)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52600"/>
            <a:ext cx="4953000" cy="1397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uiExpand="1" build="p"/>
      <p:bldP spid="9" grpId="0" build="p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Space Sizes?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00200" y="1558925"/>
            <a:ext cx="5943600" cy="4525963"/>
          </a:xfrm>
        </p:spPr>
        <p:txBody>
          <a:bodyPr/>
          <a:lstStyle/>
          <a:p>
            <a:r>
              <a:rPr lang="en-US" sz="2400" dirty="0"/>
              <a:t>World state:</a:t>
            </a:r>
          </a:p>
          <a:p>
            <a:pPr lvl="1"/>
            <a:r>
              <a:rPr lang="en-US" sz="2000" dirty="0"/>
              <a:t>Agent positions: 120</a:t>
            </a:r>
          </a:p>
          <a:p>
            <a:pPr lvl="1"/>
            <a:r>
              <a:rPr lang="en-US" sz="2000" dirty="0"/>
              <a:t>Food count: 30</a:t>
            </a:r>
          </a:p>
          <a:p>
            <a:pPr lvl="1"/>
            <a:r>
              <a:rPr lang="en-US" sz="2000" dirty="0"/>
              <a:t>Ghost positions: 12</a:t>
            </a:r>
          </a:p>
          <a:p>
            <a:pPr lvl="1"/>
            <a:r>
              <a:rPr lang="en-US" sz="2000" dirty="0"/>
              <a:t>Agent facing: NSEW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How many</a:t>
            </a:r>
          </a:p>
          <a:p>
            <a:pPr lvl="1"/>
            <a:r>
              <a:rPr lang="en-US" sz="2000" dirty="0"/>
              <a:t>World states?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)x(12</a:t>
            </a:r>
            <a:r>
              <a:rPr lang="en-US" sz="2000" baseline="30000" dirty="0"/>
              <a:t>2</a:t>
            </a:r>
            <a:r>
              <a:rPr lang="en-US" sz="2000" dirty="0"/>
              <a:t>)x4</a:t>
            </a:r>
          </a:p>
          <a:p>
            <a:pPr lvl="1"/>
            <a:r>
              <a:rPr lang="en-US" sz="2000" dirty="0"/>
              <a:t>States for </a:t>
            </a:r>
            <a:r>
              <a:rPr lang="en-US" sz="2000" dirty="0" err="1"/>
              <a:t>pathing</a:t>
            </a:r>
            <a:r>
              <a:rPr lang="en-US" sz="2000" dirty="0"/>
              <a:t>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</a:t>
            </a:r>
          </a:p>
          <a:p>
            <a:pPr lvl="1"/>
            <a:r>
              <a:rPr lang="en-US" sz="2000" dirty="0"/>
              <a:t>States for eat-all-dots?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pic>
        <p:nvPicPr>
          <p:cNvPr id="11268" name="Picture 3" descr="Z:\Shared with PC\boxSe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3" y="1905001"/>
            <a:ext cx="4030663" cy="4097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Safe Passage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29200"/>
            <a:ext cx="11379200" cy="1524000"/>
          </a:xfrm>
        </p:spPr>
        <p:txBody>
          <a:bodyPr/>
          <a:lstStyle/>
          <a:p>
            <a:r>
              <a:rPr lang="en-US" sz="2800" dirty="0"/>
              <a:t>Problem: eat all dots while keeping the ghosts </a:t>
            </a:r>
            <a:r>
              <a:rPr lang="en-US" sz="2800" dirty="0" err="1"/>
              <a:t>perma</a:t>
            </a:r>
            <a:r>
              <a:rPr lang="en-US" sz="2800" dirty="0"/>
              <a:t>-scared</a:t>
            </a:r>
          </a:p>
          <a:p>
            <a:r>
              <a:rPr lang="en-US" sz="2800" dirty="0"/>
              <a:t>What does the state space have to specify?</a:t>
            </a:r>
          </a:p>
          <a:p>
            <a:pPr lvl="1"/>
            <a:r>
              <a:rPr lang="en-US" sz="2400" dirty="0"/>
              <a:t>(agent position, dot </a:t>
            </a:r>
            <a:r>
              <a:rPr lang="en-US" sz="2400" dirty="0" err="1"/>
              <a:t>booleans</a:t>
            </a:r>
            <a:r>
              <a:rPr lang="en-US" sz="2400" dirty="0"/>
              <a:t>, power pellet </a:t>
            </a:r>
            <a:r>
              <a:rPr lang="en-US" sz="2400" dirty="0" err="1"/>
              <a:t>booleans</a:t>
            </a:r>
            <a:r>
              <a:rPr lang="en-US" sz="2400" dirty="0"/>
              <a:t>, remaining scared time)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3" y="1371601"/>
            <a:ext cx="11847513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Worked Example: Formulating a 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F3864"/>
                </a:solidFill>
                <a:latin typeface="Calibri"/>
              </a:rPr>
              <a:t>Two jugs (4 L and 3 L), a tap, and no markings. Measure exactly 2 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58368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State space: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(x, y) = litres in the 4 L and 3 L jugs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x ∈ {0..4}, y ∈ {0..3}  →  20 possible states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Start state: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(0, 0)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Goal test: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x = 2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Actions (cost 1 each):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Fill 4L, Fill 3L, Empty 4L, Empty 3L, Pour 4L→3L, Pour 3L→4L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Successor function: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e.g. Pour 4L→3L moves min(x, 3 − y) litres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(4, 0)  →  (1, 3)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Solution: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a sequence of actions from (0, 0) to a goal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2889503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00415" y="2889503"/>
            <a:ext cx="384048" cy="128930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423367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3218687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23367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52628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(4, 0)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291840"/>
            <a:ext cx="914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97180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</a:rPr>
              <a:t>Pour 4L→3L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2889503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186415" y="3877055"/>
            <a:ext cx="384048" cy="3017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12680" y="423367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35640" y="3218687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72215" y="3218687"/>
            <a:ext cx="384048" cy="960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423367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452628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(1, 3)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120640"/>
            <a:ext cx="4206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search state keeps only what matters for planning: how much water is in each jug.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Water Jugs: Breadth-First Search Finds a Shortest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(0, 0)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Fill 4L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68296" y="2340864"/>
            <a:ext cx="384048" cy="128930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(4, 0)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Pour 4L→3L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4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14216" y="3328416"/>
            <a:ext cx="384048" cy="3017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08576" y="2670048"/>
            <a:ext cx="384048" cy="960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(1, 3)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Empty 3L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0136" y="3328416"/>
            <a:ext cx="384048" cy="3017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59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(1, 0)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Pour 4L→3L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00415" y="3328416"/>
            <a:ext cx="384048" cy="3017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79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(0, 1)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Fill 4L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540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51976" y="2340864"/>
            <a:ext cx="384048" cy="128930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7824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46336" y="3328416"/>
            <a:ext cx="384048" cy="3017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(4, 1)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1417320"/>
            <a:ext cx="1600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C00000"/>
                </a:solidFill>
                <a:latin typeface="Calibri"/>
              </a:rPr>
              <a:t>Pour 4L→3L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6974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C00000"/>
                </a:solidFill>
                <a:latin typeface="Calibr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61320" y="2340864"/>
            <a:ext cx="45720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97896" y="2999232"/>
            <a:ext cx="384048" cy="6309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42416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4L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55680" y="2670048"/>
            <a:ext cx="4572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92256" y="2670048"/>
            <a:ext cx="384048" cy="960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018520" y="368503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3977639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08A3E"/>
                </a:solidFill>
                <a:latin typeface="Calibri"/>
              </a:rPr>
              <a:t>(2, 3)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BFS explores states level by level: 1 state at depth 0, 2 at depth 1, 3 at depth 2, ... It reaches a goal at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depth 6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Because every action costs 1, the first goal BFS reaches uses the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fewest actions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. (Filling the 3 L jug first also takes 6 actions.)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Think: would DFS also find a 6-action plan? Would it always terminate without a closed set?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and Search Trees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3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state space graph, each state occurs only once!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search graph, each state occurs only once!</a:t>
            </a:r>
          </a:p>
          <a:p>
            <a:pPr lvl="1" eaLnBrk="1" hangingPunct="1"/>
            <a:endParaRPr lang="en-US" sz="2000" dirty="0"/>
          </a:p>
          <a:p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12295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G</a:t>
              </a:r>
            </a:p>
          </p:txBody>
        </p:sp>
        <p:sp>
          <p:nvSpPr>
            <p:cNvPr id="12296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12298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sp>
          <p:nvSpPr>
            <p:cNvPr id="12300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sp>
          <p:nvSpPr>
            <p:cNvPr id="12301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</a:t>
              </a:r>
            </a:p>
          </p:txBody>
        </p:sp>
        <p:sp>
          <p:nvSpPr>
            <p:cNvPr id="12302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h</a:t>
              </a:r>
            </a:p>
          </p:txBody>
        </p:sp>
        <p:sp>
          <p:nvSpPr>
            <p:cNvPr id="12303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12304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f</a:t>
              </a:r>
            </a:p>
          </p:txBody>
        </p:sp>
        <p:sp>
          <p:nvSpPr>
            <p:cNvPr id="12305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r</a:t>
              </a:r>
            </a:p>
          </p:txBody>
        </p:sp>
        <p:cxnSp>
          <p:nvCxnSpPr>
            <p:cNvPr id="12306" name="AutoShape 17"/>
            <p:cNvCxnSpPr>
              <a:cxnSpLocks noChangeShapeType="1"/>
              <a:stCxn id="12294" idx="5"/>
              <a:endCxn id="12298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7" name="AutoShape 18"/>
            <p:cNvCxnSpPr>
              <a:cxnSpLocks noChangeShapeType="1"/>
              <a:stCxn id="12298" idx="5"/>
              <a:endCxn id="12299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8" name="AutoShape 19"/>
            <p:cNvCxnSpPr>
              <a:cxnSpLocks noChangeShapeType="1"/>
              <a:stCxn id="12302" idx="3"/>
              <a:endCxn id="12299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9" name="AutoShape 20"/>
            <p:cNvCxnSpPr>
              <a:cxnSpLocks noChangeShapeType="1"/>
              <a:stCxn id="12302" idx="2"/>
              <a:endCxn id="12298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0" name="AutoShape 21"/>
            <p:cNvCxnSpPr>
              <a:cxnSpLocks noChangeShapeType="1"/>
              <a:stCxn id="12301" idx="4"/>
              <a:endCxn id="12302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1" name="AutoShape 22"/>
            <p:cNvCxnSpPr>
              <a:cxnSpLocks noChangeShapeType="1"/>
              <a:stCxn id="12301" idx="5"/>
              <a:endCxn id="12305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2" name="AutoShape 23"/>
            <p:cNvCxnSpPr>
              <a:cxnSpLocks noChangeShapeType="1"/>
              <a:stCxn id="12305" idx="0"/>
              <a:endCxn id="12304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3" name="AutoShape 24"/>
            <p:cNvCxnSpPr>
              <a:cxnSpLocks noChangeShapeType="1"/>
              <a:stCxn id="12304" idx="0"/>
              <a:endCxn id="12295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4" name="AutoShape 25"/>
            <p:cNvCxnSpPr>
              <a:cxnSpLocks noChangeShapeType="1"/>
              <a:stCxn id="12294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5" name="AutoShape 26"/>
            <p:cNvCxnSpPr>
              <a:cxnSpLocks noChangeShapeType="1"/>
              <a:stCxn id="12296" idx="1"/>
              <a:endCxn id="12297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6" name="AutoShape 27"/>
            <p:cNvCxnSpPr>
              <a:cxnSpLocks noChangeShapeType="1"/>
              <a:endCxn id="12303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7" name="AutoShape 28"/>
            <p:cNvCxnSpPr>
              <a:cxnSpLocks noChangeShapeType="1"/>
              <a:stCxn id="12300" idx="2"/>
              <a:endCxn id="12303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8" name="AutoShape 29"/>
            <p:cNvCxnSpPr>
              <a:cxnSpLocks noChangeShapeType="1"/>
              <a:stCxn id="12296" idx="7"/>
              <a:endCxn id="12300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9" name="AutoShape 30"/>
            <p:cNvCxnSpPr>
              <a:cxnSpLocks noChangeShapeType="1"/>
              <a:stCxn id="12296" idx="6"/>
              <a:endCxn id="12301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0" name="AutoShape 31"/>
            <p:cNvCxnSpPr>
              <a:cxnSpLocks noChangeShapeType="1"/>
              <a:stCxn id="12304" idx="1"/>
              <a:endCxn id="12300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1" name="AutoShape 32"/>
            <p:cNvCxnSpPr>
              <a:cxnSpLocks noChangeShapeType="1"/>
              <a:stCxn id="12294" idx="6"/>
              <a:endCxn id="12301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12293" name="Text Box 33"/>
          <p:cNvSpPr txBox="1">
            <a:spLocks noChangeArrowheads="1"/>
          </p:cNvSpPr>
          <p:nvPr/>
        </p:nvSpPr>
        <p:spPr bwMode="auto">
          <a:xfrm>
            <a:off x="7696200" y="4845049"/>
            <a:ext cx="33528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Tiny search graph for a tiny search problem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Trees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A search tree:</a:t>
            </a:r>
          </a:p>
          <a:p>
            <a:pPr lvl="1" eaLnBrk="1" hangingPunct="1"/>
            <a:r>
              <a:rPr lang="en-US" sz="2000" dirty="0"/>
              <a:t>A “what if” tree of plans and their outcomes</a:t>
            </a:r>
          </a:p>
          <a:p>
            <a:pPr lvl="1" eaLnBrk="1" hangingPunct="1"/>
            <a:r>
              <a:rPr lang="en-US" sz="2000" dirty="0"/>
              <a:t>The start state is the root node</a:t>
            </a:r>
          </a:p>
          <a:p>
            <a:pPr lvl="1" eaLnBrk="1" hangingPunct="1"/>
            <a:r>
              <a:rPr lang="en-US" sz="2000" dirty="0"/>
              <a:t>Children correspond to successors</a:t>
            </a:r>
          </a:p>
          <a:p>
            <a:pPr lvl="1" eaLnBrk="1" hangingPunct="1"/>
            <a:r>
              <a:rPr lang="en-US" sz="2000" dirty="0"/>
              <a:t>Nodes show states, but correspond to PLANS that achieve those states</a:t>
            </a:r>
          </a:p>
          <a:p>
            <a:pPr lvl="1" eaLnBrk="1" hangingPunct="1"/>
            <a:r>
              <a:rPr lang="en-US" sz="2000" dirty="0">
                <a:solidFill>
                  <a:srgbClr val="CC0000"/>
                </a:solidFill>
              </a:rPr>
              <a:t>For most problems, we can never actually build the whole tree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This is now / start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Possible futures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vs. Search Trees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We construct both on demand – and we construct as little as possible.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47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Each NODE in in the search tree is an entire PATH in the state space graph.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Search Tree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State Space Graph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Consider this 4-state graph: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Important: Lots of repeated structure in the search tree!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Tree Search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3669325" y="3614614"/>
            <a:ext cx="5030176" cy="2170723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916115 w 4618893"/>
              <a:gd name="connsiteY5" fmla="*/ 936381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883877 w 4618893"/>
              <a:gd name="connsiteY5" fmla="*/ 1384789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883877 w 4618893"/>
              <a:gd name="connsiteY5" fmla="*/ 1384789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960077 w 4618893"/>
              <a:gd name="connsiteY5" fmla="*/ 1537190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95839 h 2170723"/>
              <a:gd name="connsiteX1" fmla="*/ 14654 w 4618893"/>
              <a:gd name="connsiteY1" fmla="*/ 1493716 h 2170723"/>
              <a:gd name="connsiteX2" fmla="*/ 454269 w 4618893"/>
              <a:gd name="connsiteY2" fmla="*/ 2082800 h 2170723"/>
              <a:gd name="connsiteX3" fmla="*/ 2036885 w 4618893"/>
              <a:gd name="connsiteY3" fmla="*/ 2021254 h 2170723"/>
              <a:gd name="connsiteX4" fmla="*/ 2350477 w 4618893"/>
              <a:gd name="connsiteY4" fmla="*/ 1566985 h 2170723"/>
              <a:gd name="connsiteX5" fmla="*/ 2960077 w 4618893"/>
              <a:gd name="connsiteY5" fmla="*/ 1566986 h 2170723"/>
              <a:gd name="connsiteX6" fmla="*/ 3223846 w 4618893"/>
              <a:gd name="connsiteY6" fmla="*/ 1950916 h 2170723"/>
              <a:gd name="connsiteX7" fmla="*/ 4437185 w 4618893"/>
              <a:gd name="connsiteY7" fmla="*/ 1906954 h 2170723"/>
              <a:gd name="connsiteX8" fmla="*/ 4314092 w 4618893"/>
              <a:gd name="connsiteY8" fmla="*/ 702408 h 2170723"/>
              <a:gd name="connsiteX9" fmla="*/ 2807677 w 4618893"/>
              <a:gd name="connsiteY9" fmla="*/ 881186 h 2170723"/>
              <a:gd name="connsiteX10" fmla="*/ 2655277 w 4618893"/>
              <a:gd name="connsiteY10" fmla="*/ 119185 h 2170723"/>
              <a:gd name="connsiteX11" fmla="*/ 1843454 w 4618893"/>
              <a:gd name="connsiteY11" fmla="*/ 166077 h 2170723"/>
              <a:gd name="connsiteX12" fmla="*/ 1852246 w 4618893"/>
              <a:gd name="connsiteY12" fmla="*/ 895839 h 2170723"/>
              <a:gd name="connsiteX13" fmla="*/ 542192 w 4618893"/>
              <a:gd name="connsiteY13" fmla="*/ 895839 h 2170723"/>
              <a:gd name="connsiteX0" fmla="*/ 542192 w 4755662"/>
              <a:gd name="connsiteY0" fmla="*/ 895839 h 2170723"/>
              <a:gd name="connsiteX1" fmla="*/ 14654 w 4755662"/>
              <a:gd name="connsiteY1" fmla="*/ 1493716 h 2170723"/>
              <a:gd name="connsiteX2" fmla="*/ 454269 w 4755662"/>
              <a:gd name="connsiteY2" fmla="*/ 2082800 h 2170723"/>
              <a:gd name="connsiteX3" fmla="*/ 2036885 w 4755662"/>
              <a:gd name="connsiteY3" fmla="*/ 2021254 h 2170723"/>
              <a:gd name="connsiteX4" fmla="*/ 2350477 w 4755662"/>
              <a:gd name="connsiteY4" fmla="*/ 1566985 h 2170723"/>
              <a:gd name="connsiteX5" fmla="*/ 2960077 w 4755662"/>
              <a:gd name="connsiteY5" fmla="*/ 1566986 h 2170723"/>
              <a:gd name="connsiteX6" fmla="*/ 3223846 w 4755662"/>
              <a:gd name="connsiteY6" fmla="*/ 1950916 h 2170723"/>
              <a:gd name="connsiteX7" fmla="*/ 4437185 w 4755662"/>
              <a:gd name="connsiteY7" fmla="*/ 1906954 h 2170723"/>
              <a:gd name="connsiteX8" fmla="*/ 4484077 w 4755662"/>
              <a:gd name="connsiteY8" fmla="*/ 957386 h 2170723"/>
              <a:gd name="connsiteX9" fmla="*/ 2807677 w 4755662"/>
              <a:gd name="connsiteY9" fmla="*/ 881186 h 2170723"/>
              <a:gd name="connsiteX10" fmla="*/ 2655277 w 4755662"/>
              <a:gd name="connsiteY10" fmla="*/ 119185 h 2170723"/>
              <a:gd name="connsiteX11" fmla="*/ 1843454 w 4755662"/>
              <a:gd name="connsiteY11" fmla="*/ 166077 h 2170723"/>
              <a:gd name="connsiteX12" fmla="*/ 1852246 w 4755662"/>
              <a:gd name="connsiteY12" fmla="*/ 895839 h 2170723"/>
              <a:gd name="connsiteX13" fmla="*/ 542192 w 4755662"/>
              <a:gd name="connsiteY13" fmla="*/ 895839 h 2170723"/>
              <a:gd name="connsiteX0" fmla="*/ 542192 w 4984261"/>
              <a:gd name="connsiteY0" fmla="*/ 895839 h 2170723"/>
              <a:gd name="connsiteX1" fmla="*/ 14654 w 4984261"/>
              <a:gd name="connsiteY1" fmla="*/ 1493716 h 2170723"/>
              <a:gd name="connsiteX2" fmla="*/ 454269 w 4984261"/>
              <a:gd name="connsiteY2" fmla="*/ 2082800 h 2170723"/>
              <a:gd name="connsiteX3" fmla="*/ 2036885 w 4984261"/>
              <a:gd name="connsiteY3" fmla="*/ 2021254 h 2170723"/>
              <a:gd name="connsiteX4" fmla="*/ 2350477 w 4984261"/>
              <a:gd name="connsiteY4" fmla="*/ 1566985 h 2170723"/>
              <a:gd name="connsiteX5" fmla="*/ 2960077 w 4984261"/>
              <a:gd name="connsiteY5" fmla="*/ 1566986 h 2170723"/>
              <a:gd name="connsiteX6" fmla="*/ 3223846 w 4984261"/>
              <a:gd name="connsiteY6" fmla="*/ 1950916 h 2170723"/>
              <a:gd name="connsiteX7" fmla="*/ 4437185 w 4984261"/>
              <a:gd name="connsiteY7" fmla="*/ 1906954 h 2170723"/>
              <a:gd name="connsiteX8" fmla="*/ 4712676 w 4984261"/>
              <a:gd name="connsiteY8" fmla="*/ 957386 h 2170723"/>
              <a:gd name="connsiteX9" fmla="*/ 2807677 w 4984261"/>
              <a:gd name="connsiteY9" fmla="*/ 881186 h 2170723"/>
              <a:gd name="connsiteX10" fmla="*/ 2655277 w 4984261"/>
              <a:gd name="connsiteY10" fmla="*/ 119185 h 2170723"/>
              <a:gd name="connsiteX11" fmla="*/ 1843454 w 4984261"/>
              <a:gd name="connsiteY11" fmla="*/ 166077 h 2170723"/>
              <a:gd name="connsiteX12" fmla="*/ 1852246 w 4984261"/>
              <a:gd name="connsiteY12" fmla="*/ 895839 h 2170723"/>
              <a:gd name="connsiteX13" fmla="*/ 542192 w 4984261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7 w 5030176"/>
              <a:gd name="connsiteY4" fmla="*/ 1566985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5 w 5030176"/>
              <a:gd name="connsiteY5" fmla="*/ 14145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650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 Example: Romania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Searching with a Search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4267200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Search: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Expand out potential plans (tree nodes)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Maintain a </a:t>
            </a:r>
            <a:r>
              <a:rPr lang="en-US" dirty="0">
                <a:solidFill>
                  <a:srgbClr val="CC0000"/>
                </a:solidFill>
              </a:rPr>
              <a:t>fringe </a:t>
            </a:r>
            <a:r>
              <a:rPr lang="en-US" dirty="0"/>
              <a:t>of partial plans under consideration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Try to expand as few tree nodes as possible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Tree Search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4114799"/>
            <a:ext cx="7315200" cy="2362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Important ideas: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Fringe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Expansion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Exploration strategy</a:t>
            </a:r>
          </a:p>
          <a:p>
            <a:pPr lvl="3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Main question: which fringe nodes to explore?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Tree Search</a:t>
            </a: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391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</a:t>
                </a:r>
              </a:p>
            </p:txBody>
          </p:sp>
          <p:sp>
            <p:nvSpPr>
              <p:cNvPr id="16392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16393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d</a:t>
                </a:r>
              </a:p>
            </p:txBody>
          </p:sp>
          <p:sp>
            <p:nvSpPr>
              <p:cNvPr id="16394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b</a:t>
                </a:r>
              </a:p>
            </p:txBody>
          </p:sp>
          <p:sp>
            <p:nvSpPr>
              <p:cNvPr id="16395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16396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6397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16398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16399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16400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sp>
            <p:nvSpPr>
              <p:cNvPr id="16401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16402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cxnSp>
            <p:nvCxnSpPr>
              <p:cNvPr id="16403" name="AutoShape 18"/>
              <p:cNvCxnSpPr>
                <a:cxnSpLocks noChangeShapeType="1"/>
                <a:stCxn id="16391" idx="5"/>
                <a:endCxn id="16395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4" name="AutoShape 19"/>
              <p:cNvCxnSpPr>
                <a:cxnSpLocks noChangeShapeType="1"/>
                <a:stCxn id="16395" idx="5"/>
                <a:endCxn id="16396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5" name="AutoShape 20"/>
              <p:cNvCxnSpPr>
                <a:cxnSpLocks noChangeShapeType="1"/>
                <a:stCxn id="16399" idx="3"/>
                <a:endCxn id="16396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6" name="AutoShape 21"/>
              <p:cNvCxnSpPr>
                <a:cxnSpLocks noChangeShapeType="1"/>
                <a:stCxn id="16399" idx="2"/>
                <a:endCxn id="16395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7" name="AutoShape 22"/>
              <p:cNvCxnSpPr>
                <a:cxnSpLocks noChangeShapeType="1"/>
                <a:stCxn id="16398" idx="4"/>
                <a:endCxn id="16399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8" name="AutoShape 23"/>
              <p:cNvCxnSpPr>
                <a:cxnSpLocks noChangeShapeType="1"/>
                <a:stCxn id="16398" idx="5"/>
                <a:endCxn id="16402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9" name="AutoShape 24"/>
              <p:cNvCxnSpPr>
                <a:cxnSpLocks noChangeShapeType="1"/>
                <a:stCxn id="16402" idx="0"/>
                <a:endCxn id="16401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0" name="AutoShape 25"/>
              <p:cNvCxnSpPr>
                <a:cxnSpLocks noChangeShapeType="1"/>
                <a:stCxn id="16401" idx="0"/>
                <a:endCxn id="16392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1" name="AutoShape 26"/>
              <p:cNvCxnSpPr>
                <a:cxnSpLocks noChangeShapeType="1"/>
                <a:stCxn id="16391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2" name="AutoShape 27"/>
              <p:cNvCxnSpPr>
                <a:cxnSpLocks noChangeShapeType="1"/>
                <a:stCxn id="16393" idx="1"/>
                <a:endCxn id="16394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3" name="AutoShape 28"/>
              <p:cNvCxnSpPr>
                <a:cxnSpLocks noChangeShapeType="1"/>
                <a:endCxn id="16400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4" name="AutoShape 29"/>
              <p:cNvCxnSpPr>
                <a:cxnSpLocks noChangeShapeType="1"/>
                <a:stCxn id="16397" idx="2"/>
                <a:endCxn id="16400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5" name="AutoShape 30"/>
              <p:cNvCxnSpPr>
                <a:cxnSpLocks noChangeShapeType="1"/>
                <a:stCxn id="16393" idx="7"/>
                <a:endCxn id="16397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6" name="AutoShape 31"/>
              <p:cNvCxnSpPr>
                <a:cxnSpLocks noChangeShapeType="1"/>
                <a:stCxn id="16393" idx="6"/>
                <a:endCxn id="16398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7" name="AutoShape 32"/>
              <p:cNvCxnSpPr>
                <a:cxnSpLocks noChangeShapeType="1"/>
                <a:stCxn id="16401" idx="1"/>
                <a:endCxn id="16397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8" name="AutoShape 33"/>
              <p:cNvCxnSpPr>
                <a:cxnSpLocks noChangeShapeType="1"/>
                <a:stCxn id="16391" idx="6"/>
                <a:endCxn id="16398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6390" name="AutoShape 34"/>
            <p:cNvCxnSpPr>
              <a:cxnSpLocks noChangeShapeType="1"/>
              <a:stCxn id="16396" idx="6"/>
              <a:endCxn id="16402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Tree Search vs. Graph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66928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Tree search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can expand the same state many times: the search tree has lots of repeated structure, and can be infinite when the graph has cycles.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Graph search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= tree search + a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closed set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: never expand a state twice.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When a popped node’s state is already closed, skip it.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All of today’s worked examples (and HW0) use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graph search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371600"/>
            <a:ext cx="5349240" cy="43434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29400" y="1508760"/>
            <a:ext cx="502920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fringe ← [start];  closed ← {}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while fringe is not empty: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node ← fringe.pop()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if node.state in closed: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continue          # skip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if is_goal(node.state):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return node.path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closed.add(node.state)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for child in successors(node):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if child.state not in closed: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    fringe.push(child)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return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5760720"/>
            <a:ext cx="5349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The fringe type is the only difference between DFS, BFS, and UCS.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Worked Example Graph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371600"/>
            <a:ext cx="539496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Find a path from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S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(start) to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G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(goal). Edge labels are step costs.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We will run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DFS, BFS, and UCS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on this same graph, one step at a time.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Rules for every trace: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Graph search: never expand a state twice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Goal test when a node is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popped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, not when it is added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Ties are broken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alphabetically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00000"/>
                </a:solidFill>
                <a:latin typeface="Calibri"/>
              </a:rPr>
              <a:t>Try predicting each answer before we step through it!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Example from UC Berkeley CS 188, Fall 2026, Discussion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381000" y="1371602"/>
            <a:ext cx="22812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Strategy: expand a deepest node first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Implementation: Fringe is a LIFO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8975" y="1443038"/>
            <a:ext cx="5838824" cy="4410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73281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06400" y="1295402"/>
            <a:ext cx="11379200" cy="4729164"/>
          </a:xfrm>
        </p:spPr>
        <p:txBody>
          <a:bodyPr/>
          <a:lstStyle/>
          <a:p>
            <a:r>
              <a:rPr lang="en-US" sz="2400" dirty="0"/>
              <a:t>Complete: Guaranteed to find a solution if one exists?</a:t>
            </a:r>
          </a:p>
          <a:p>
            <a:r>
              <a:rPr lang="en-US" sz="2400" dirty="0"/>
              <a:t>Optimal: Guaranteed to find the least cost path?</a:t>
            </a:r>
          </a:p>
          <a:p>
            <a:r>
              <a:rPr lang="en-US" sz="2400" dirty="0"/>
              <a:t>Time complexity?</a:t>
            </a:r>
          </a:p>
          <a:p>
            <a:r>
              <a:rPr lang="en-US" sz="2400" dirty="0"/>
              <a:t>Space complexity?</a:t>
            </a:r>
          </a:p>
          <a:p>
            <a:pPr lvl="1"/>
            <a:endParaRPr lang="en-US" sz="2000" dirty="0"/>
          </a:p>
          <a:p>
            <a:r>
              <a:rPr lang="en-US" sz="2400" dirty="0"/>
              <a:t>Cartoon of search tree:</a:t>
            </a:r>
          </a:p>
          <a:p>
            <a:pPr lvl="1"/>
            <a:r>
              <a:rPr lang="en-US" sz="2000" dirty="0"/>
              <a:t>b is the branching factor</a:t>
            </a:r>
          </a:p>
          <a:p>
            <a:pPr lvl="1"/>
            <a:r>
              <a:rPr lang="en-US" sz="2000" dirty="0"/>
              <a:t>m is the maximum depth</a:t>
            </a:r>
          </a:p>
          <a:p>
            <a:pPr lvl="1"/>
            <a:r>
              <a:rPr lang="en-US" sz="2000" dirty="0"/>
              <a:t>solutions at various depths</a:t>
            </a:r>
          </a:p>
          <a:p>
            <a:pPr lvl="1"/>
            <a:endParaRPr lang="en-US" sz="2000" dirty="0"/>
          </a:p>
          <a:p>
            <a:r>
              <a:rPr lang="en-US" sz="2400" dirty="0"/>
              <a:t>Number of nodes in entire tree?</a:t>
            </a:r>
          </a:p>
          <a:p>
            <a:pPr lvl="1"/>
            <a:r>
              <a:rPr lang="en-US" sz="2000" dirty="0"/>
              <a:t>1 + b + b</a:t>
            </a:r>
            <a:r>
              <a:rPr lang="en-US" sz="2000" baseline="30000" dirty="0"/>
              <a:t>2</a:t>
            </a:r>
            <a:r>
              <a:rPr lang="en-US" sz="2000" dirty="0"/>
              <a:t> + …. 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 =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endParaRPr lang="en-US" sz="2400" dirty="0"/>
          </a:p>
        </p:txBody>
      </p:sp>
      <p:sp>
        <p:nvSpPr>
          <p:cNvPr id="6" name="Freeform 30"/>
          <p:cNvSpPr>
            <a:spLocks/>
          </p:cNvSpPr>
          <p:nvPr/>
        </p:nvSpPr>
        <p:spPr bwMode="auto">
          <a:xfrm>
            <a:off x="6737351" y="276384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6" tIns="45718" rIns="91436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Oval 31"/>
          <p:cNvSpPr>
            <a:spLocks noChangeArrowheads="1"/>
          </p:cNvSpPr>
          <p:nvPr/>
        </p:nvSpPr>
        <p:spPr bwMode="auto"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7989890" y="2970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…</a:t>
            </a:r>
          </a:p>
        </p:txBody>
      </p:sp>
      <p:sp>
        <p:nvSpPr>
          <p:cNvPr id="11" name="Freeform 35"/>
          <p:cNvSpPr>
            <a:spLocks/>
          </p:cNvSpPr>
          <p:nvPr/>
        </p:nvSpPr>
        <p:spPr bwMode="auto">
          <a:xfrm>
            <a:off x="7972427" y="2924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6" tIns="45718" rIns="91436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374061" y="2722565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801225" y="2574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 node</a:t>
            </a: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9802814" y="292893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 nodes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9802814" y="3340100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nodes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9817102" y="496570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  <a:r>
              <a:rPr kumimoji="0" lang="en-US" sz="18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nodes</a:t>
            </a: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8" name="Oval 42"/>
          <p:cNvSpPr>
            <a:spLocks noChangeArrowheads="1"/>
          </p:cNvSpPr>
          <p:nvPr/>
        </p:nvSpPr>
        <p:spPr bwMode="auto"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1" name="AutoShape 45"/>
          <p:cNvSpPr>
            <a:spLocks/>
          </p:cNvSpPr>
          <p:nvPr/>
        </p:nvSpPr>
        <p:spPr bwMode="auto">
          <a:xfrm>
            <a:off x="6305551" y="2514603"/>
            <a:ext cx="265112" cy="2811463"/>
          </a:xfrm>
          <a:prstGeom prst="leftBrace">
            <a:avLst>
              <a:gd name="adj1" fmla="val 883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235576" y="3725865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 tiers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47"/>
          <p:cNvSpPr>
            <a:spLocks/>
          </p:cNvSpPr>
          <p:nvPr/>
        </p:nvSpPr>
        <p:spPr bwMode="auto">
          <a:xfrm>
            <a:off x="7348535" y="2003423"/>
            <a:ext cx="1906588" cy="2554288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 (DFS) Properties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1 node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50" y="2427287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 nodes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50" y="2838450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  <a:r>
                <a:rPr kumimoji="0" lang="en-US" sz="18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nodes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  <a:r>
                <a:rPr kumimoji="0" lang="en-US" sz="18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m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nodes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328738" y="3224213"/>
              <a:ext cx="1265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m tiers</a:t>
              </a:r>
            </a:p>
          </p:txBody>
        </p:sp>
      </p:grp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54000" y="1366836"/>
            <a:ext cx="5461000" cy="4729164"/>
          </a:xfrm>
        </p:spPr>
        <p:txBody>
          <a:bodyPr/>
          <a:lstStyle/>
          <a:p>
            <a:r>
              <a:rPr lang="en-US" sz="2400" dirty="0"/>
              <a:t>What nodes DFS expand?</a:t>
            </a:r>
          </a:p>
          <a:p>
            <a:pPr lvl="1"/>
            <a:r>
              <a:rPr lang="en-US" sz="2000" dirty="0"/>
              <a:t>Some left prefix of the tree.</a:t>
            </a:r>
          </a:p>
          <a:p>
            <a:pPr lvl="1"/>
            <a:r>
              <a:rPr lang="en-US" sz="2000" dirty="0"/>
              <a:t>Could process the whole tree!</a:t>
            </a:r>
          </a:p>
          <a:p>
            <a:pPr lvl="1"/>
            <a:r>
              <a:rPr lang="en-US" sz="2000" dirty="0"/>
              <a:t>If m is finite,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Only has siblings on path to root, so O(</a:t>
            </a:r>
            <a:r>
              <a:rPr lang="en-US" sz="2000" dirty="0" err="1"/>
              <a:t>bm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m could be infinite, so only if we prevent cycles (more later)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No, it finds the “leftmost” solution, regardless of depth or cost</a:t>
            </a:r>
          </a:p>
          <a:p>
            <a:pPr lvl="1"/>
            <a:endParaRPr lang="en-US" sz="2000" dirty="0"/>
          </a:p>
        </p:txBody>
      </p:sp>
      <p:sp>
        <p:nvSpPr>
          <p:cNvPr id="31" name="Freeform 47"/>
          <p:cNvSpPr>
            <a:spLocks/>
          </p:cNvSpPr>
          <p:nvPr/>
        </p:nvSpPr>
        <p:spPr bwMode="auto">
          <a:xfrm>
            <a:off x="7389813" y="2057317"/>
            <a:ext cx="1373163" cy="2478171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7389840" y="2057403"/>
            <a:ext cx="1373179" cy="251459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1" grpId="1" animBg="1"/>
      <p:bldP spid="32" grpId="0" animBg="1"/>
      <p:bldP spid="3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0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595959"/>
                </a:solidFill>
                <a:latin typeface="Calibri"/>
              </a:rPr>
              <a:t>Initial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(none)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Start: the fringe holds only the start state S. Nothing has been expanded yet.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1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S. S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A, S → B, S → D. Pushed in reverse order so A ends on top.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2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A. A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A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C. (S already expanded: not added.)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3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→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D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C. C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C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 → D, S → A → C → G. (A already expanded: not added.) Pushed in reverse order so D ends on 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4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→ C →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D → B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D → G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86600" y="3931920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C,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 → D. D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 → D → B, S → A → C → D → G. (C, S already expanded: not added.) Pushed in reverse order so B ends on top.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5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→ C → D →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D → 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C, D,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 → D → B. B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B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Every neighbor is already expanded, so nothing is added. (D, S already expanded: not added.)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Worked Example (step 6 of 6)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(goal!):  </a:t>
            </a:r>
            <a:r>
              <a:rPr sz="2200" b="1" i="0">
                <a:solidFill>
                  <a:srgbClr val="008A3E"/>
                </a:solidFill>
                <a:latin typeface="Calibri"/>
              </a:rPr>
              <a:t>S → A → C → D →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Stack (LIFO): top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top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C, D, B, 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 → D → G.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G is the goal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return this path. Total cost = 12.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DFS: expand the deepest node first  ·  fringe = stack  ·  graph search  ·  ties alphabetical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DFS Result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008A3E"/>
          </a:solidFill>
          <a:ln w="254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Returned path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25880"/>
            <a:ext cx="539496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Expansion order: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S, A, C, D, B,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Path returned: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 → A → C → D →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Cost: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2 + 4 + 1 + 5 = 12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Actions: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539496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DFS dives deep along S → A → C → D before backing up.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It found a path quickly, but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not the cheapest one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. UCS will find a path of cost 8.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DFS returns the “leftmost” solution, regardless of depth or cost.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Search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3808411" y="40211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629402" y="3976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380411" y="39909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278184" y="45212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3952878" y="45132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4799011" y="451326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243635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6945311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378828" y="4505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268660" y="50514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366963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Strategy: expand a shallowest node first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Implementation: Fringe is a 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8526461" y="2038351"/>
            <a:ext cx="541339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7939088" y="2020890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8077200" y="2038349"/>
            <a:ext cx="144780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8305803" y="2038349"/>
            <a:ext cx="99059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 (BFS)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97003"/>
            <a:ext cx="5689600" cy="4729164"/>
          </a:xfrm>
        </p:spPr>
        <p:txBody>
          <a:bodyPr/>
          <a:lstStyle/>
          <a:p>
            <a:r>
              <a:rPr lang="en-US" sz="2400" dirty="0"/>
              <a:t>What nodes does BFS expand?</a:t>
            </a:r>
          </a:p>
          <a:p>
            <a:pPr lvl="1"/>
            <a:r>
              <a:rPr lang="en-US" sz="2000" dirty="0"/>
              <a:t>Processes all nodes above shallowest solution</a:t>
            </a:r>
          </a:p>
          <a:p>
            <a:pPr lvl="1"/>
            <a:r>
              <a:rPr lang="en-US" sz="2000" dirty="0"/>
              <a:t>Let depth of shallowest solution be s</a:t>
            </a:r>
          </a:p>
          <a:p>
            <a:pPr lvl="1"/>
            <a:r>
              <a:rPr lang="en-US" sz="2000" dirty="0"/>
              <a:t>Search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s must be finite if a solution exists, so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Only if costs are all 1 (more on costs later)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7346954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8599491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8582026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983664" y="196056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0410828" y="1812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 node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0412414" y="2166935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 nodes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0412414" y="257809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nodes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0426702" y="4203699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nodes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6915149" y="1752602"/>
            <a:ext cx="265112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05503" y="2392362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 tiers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0401302" y="317976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  <a:r>
              <a:rPr kumimoji="0" lang="en-US" sz="18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802818" grpId="0" animBg="1"/>
      <p:bldP spid="35" grpId="0" animBg="1"/>
      <p:bldP spid="35" grpId="1" animBg="1"/>
      <p:bldP spid="37" grpId="0" animBg="1"/>
      <p:bldP spid="37" grpId="1" animBg="1"/>
      <p:bldP spid="24631" grpId="0" animBg="1"/>
      <p:bldP spid="24632" grpId="0"/>
      <p:bldP spid="2463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1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S. S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A, S → B, S → 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2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A. A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A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C. (S already expanded: not added.)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3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→ D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B. B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B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B → D. (S already expanded: not added.)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4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→ 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C   (new)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   (new)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D. D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D → C, S → D → G. (B, S already expanded: not added.)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5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→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B →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   (new)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C. C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C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 → G. (A, D already expanded: not added.)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6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(skip):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B →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 →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B → D.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D was already expanded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graph search discards this entry.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7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(skip):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D →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 → 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D → C.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 was already expanded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graph search discards this entry.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Worked Example (step 8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(goal!):  </a:t>
            </a:r>
            <a:r>
              <a:rPr sz="2200" b="1" i="0">
                <a:solidFill>
                  <a:srgbClr val="008A3E"/>
                </a:solidFill>
                <a:latin typeface="Calibri"/>
              </a:rPr>
              <a:t>S → D →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Queue (FIFO): front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front 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C, 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D → G.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G is the goal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return this path. Total cost =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BFS: expand the shallowest node first  ·  fringe = queue  ·  graph search  ·  ties alphabetical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BFS Result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008A3E"/>
          </a:solidFill>
          <a:ln w="254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Returned path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25880"/>
            <a:ext cx="539496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Expansion order: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S, A, B, D, C,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Path returned: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 → D →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Cost: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5 + 5 = 10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Actions: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539496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BFS returns the path with the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fewest actions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 (2).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But it ignores edge costs: S → D → G costs 10, while S → A → C → G costs 8.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Two entries were skipped because their states were already expanded.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979" y="1619074"/>
            <a:ext cx="4723641" cy="3543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2779" y="1619535"/>
            <a:ext cx="4723641" cy="3542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6723956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971800" y="1397003"/>
            <a:ext cx="8813800" cy="4729164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BFS outperform DFS?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DFS outperform BFS?</a:t>
            </a:r>
          </a:p>
        </p:txBody>
      </p:sp>
      <p:sp>
        <p:nvSpPr>
          <p:cNvPr id="25604" name="TextBox 26"/>
          <p:cNvSpPr txBox="1">
            <a:spLocks noChangeArrowheads="1"/>
          </p:cNvSpPr>
          <p:nvPr/>
        </p:nvSpPr>
        <p:spPr bwMode="auto">
          <a:xfrm>
            <a:off x="8458200" y="6488672"/>
            <a:ext cx="3733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[Demo: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maze water (L2D6)]</a:t>
            </a: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1)</a:t>
            </a:r>
          </a:p>
        </p:txBody>
      </p:sp>
      <p:pic>
        <p:nvPicPr>
          <p:cNvPr id="3" name="MazeWater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894" y="1130247"/>
            <a:ext cx="7542213" cy="55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2)</a:t>
            </a:r>
          </a:p>
        </p:txBody>
      </p:sp>
      <p:pic>
        <p:nvPicPr>
          <p:cNvPr id="4" name="MazeWater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049" y="1128999"/>
            <a:ext cx="7543902" cy="55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2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Iterative Deepening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06400" y="1397003"/>
            <a:ext cx="6908800" cy="4729164"/>
          </a:xfrm>
        </p:spPr>
        <p:txBody>
          <a:bodyPr/>
          <a:lstStyle/>
          <a:p>
            <a:r>
              <a:rPr lang="en-US" sz="2800" dirty="0"/>
              <a:t>Idea: get DFS’s space advantage with BFS’s time / shallow-solution advantages</a:t>
            </a:r>
          </a:p>
          <a:p>
            <a:pPr lvl="1"/>
            <a:r>
              <a:rPr lang="en-US" sz="2400" dirty="0"/>
              <a:t>Run a DFS with depth limit 1.  If no solution…</a:t>
            </a:r>
          </a:p>
          <a:p>
            <a:pPr lvl="1"/>
            <a:r>
              <a:rPr lang="en-US" sz="2400" dirty="0"/>
              <a:t>Run a DFS with depth limit 2.  If no solution…</a:t>
            </a:r>
          </a:p>
          <a:p>
            <a:pPr lvl="1"/>
            <a:r>
              <a:rPr lang="en-US" sz="2400" dirty="0"/>
              <a:t>Run a DFS with depth limit 3.  …..</a:t>
            </a:r>
          </a:p>
          <a:p>
            <a:pPr lvl="1"/>
            <a:endParaRPr lang="en-US" sz="2400" dirty="0"/>
          </a:p>
          <a:p>
            <a:r>
              <a:rPr lang="en-US" sz="2800" dirty="0"/>
              <a:t>Isn’t that wastefully redundant?</a:t>
            </a:r>
          </a:p>
          <a:p>
            <a:pPr lvl="1"/>
            <a:r>
              <a:rPr lang="en-US" sz="2400" dirty="0"/>
              <a:t>Generally most work happens in the lowest level searched, so not so bad!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Iterative Deepening: Worked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Depth limit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Nodes visited (in order)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no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S, A, B, 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no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000000"/>
                          </a:solidFill>
                          <a:latin typeface="Calibri"/>
                        </a:rPr>
                        <a:t>S, A, C, B, D, D, B, C, G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000000"/>
                          </a:solidFill>
                          <a:latin typeface="Calibri"/>
                        </a:rPr>
                        <a:t>found S → D → G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Each iteration runs a depth-limited DFS from scratch on the same graph (avoiding cycles along the current path).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IDS finds the </a:t>
            </a:r>
            <a:r>
              <a:rPr sz="1800" b="1" i="0">
                <a:solidFill>
                  <a:srgbClr val="000000"/>
                </a:solidFill>
                <a:latin typeface="Calibri"/>
              </a:rPr>
              <a:t>shallowest</a:t>
            </a:r>
            <a:r>
              <a:rPr sz="1800" b="0" i="0">
                <a:solidFill>
                  <a:srgbClr val="000000"/>
                </a:solidFill>
                <a:latin typeface="Calibri"/>
              </a:rPr>
              <a:t> goal, the same 2-action path as BFS, while storing only one path at a time like DFS.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Repeating the shallow levels is cheap: most of the work happens at the deepest level searched.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Cost-Sensitive Search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BFS finds the shortest path in terms of number of actions.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It does not find the least-cost path.  We will now cover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a similar algorithm which does find the least-cost path.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1002" y="1447800"/>
            <a:ext cx="29289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Strategy: expand a cheapest node first: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Fringe is a priority queue (priority: cumulative cost)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66838"/>
            <a:ext cx="7366000" cy="4729164"/>
          </a:xfrm>
        </p:spPr>
        <p:txBody>
          <a:bodyPr/>
          <a:lstStyle/>
          <a:p>
            <a:r>
              <a:rPr lang="en-US" sz="2400" dirty="0"/>
              <a:t>What nodes </a:t>
            </a:r>
            <a:r>
              <a:rPr lang="en-US" sz="2400"/>
              <a:t>does UCS </a:t>
            </a:r>
            <a:r>
              <a:rPr lang="en-US" sz="2400" dirty="0"/>
              <a:t>expand?</a:t>
            </a:r>
          </a:p>
          <a:p>
            <a:pPr lvl="1"/>
            <a:r>
              <a:rPr lang="en-US" sz="2000" dirty="0"/>
              <a:t>Processes all nodes with cost less than cheapest solution!</a:t>
            </a:r>
          </a:p>
          <a:p>
            <a:pPr lvl="1"/>
            <a:r>
              <a:rPr lang="en-US" sz="2000" dirty="0"/>
              <a:t>If that solution costs </a:t>
            </a:r>
            <a:r>
              <a:rPr lang="en-US" sz="2000" i="1" dirty="0">
                <a:latin typeface="Times New Roman" pitchFamily="18" charset="0"/>
              </a:rPr>
              <a:t>C* </a:t>
            </a:r>
            <a:r>
              <a:rPr lang="en-US" sz="2000" dirty="0"/>
              <a:t>and arcs cost at least 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en-US" sz="2000" i="1" dirty="0">
                <a:sym typeface="Symbol" pitchFamily="18" charset="2"/>
              </a:rPr>
              <a:t>,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then the “effective depth” is roughly </a:t>
            </a:r>
            <a:r>
              <a:rPr lang="en-US" sz="2000" i="1" dirty="0">
                <a:latin typeface="Times New Roman" pitchFamily="18" charset="0"/>
              </a:rPr>
              <a:t>C*/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en-US" sz="2000" dirty="0"/>
          </a:p>
          <a:p>
            <a:pPr lvl="1"/>
            <a:r>
              <a:rPr lang="en-US" sz="2000" dirty="0"/>
              <a:t>Takes time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 (exponential in effective depth)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Assuming best solution has a finite cost and minimum arc cost is positive,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Yes!  (Proof next lecture via A*)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C*/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  <a:sym typeface="Symbol" pitchFamily="18" charset="2"/>
              </a:rPr>
              <a:t>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Uniform Cost Issues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>
          <a:xfrm>
            <a:off x="457203" y="1447801"/>
            <a:ext cx="64769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Remember: UCS explores increasing cost contours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good: UCS is complete and optimal!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bad: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Explores options in every “direction”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No information about goal location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dirty="0"/>
              <a:t>We’ll fix that soon!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113839" y="5006979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Start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Goal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  <a:sym typeface="Symbol" pitchFamily="18" charset="2"/>
                </a:rPr>
                <a:t> 1</a:t>
              </a:r>
            </a:p>
          </p:txBody>
        </p:sp>
      </p:grpSp>
      <p:sp>
        <p:nvSpPr>
          <p:cNvPr id="31769" name="TextBox 26"/>
          <p:cNvSpPr txBox="1">
            <a:spLocks noChangeArrowheads="1"/>
          </p:cNvSpPr>
          <p:nvPr/>
        </p:nvSpPr>
        <p:spPr bwMode="auto">
          <a:xfrm>
            <a:off x="8467725" y="5943600"/>
            <a:ext cx="3724275" cy="923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[Demo: empty grid UCS (L2D5)]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[Demo: maze with deep/shallow water DFS/BFS/UCS (L2D7)]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  <p:bldP spid="31751" grpId="0"/>
      <p:bldP spid="31752" grpId="0" animBg="1"/>
      <p:bldP spid="31753" grpId="0"/>
      <p:bldP spid="3176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1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  (g = 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  g = 2   (new)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  g = 3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  g = 5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(cost 0). S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(2), S → B (3), S → D (5).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2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  (g =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B   g =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  g =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  g = 6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(cost 2). A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A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 (6). (S already expanded: not added.)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3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B   (g =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   g =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  g = 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→ D   g = 7  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B (cost 3). B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B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B → D (7). (S already expanded: not added.)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4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D   (g = 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  g =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C   g = 6   (new)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→ D   g = 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   g = 10   (new)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D (cost 5). D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D → C (6), S → D → G (10). (B, S already expanded: not added.)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5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A → C   (g = 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 → C   g =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B → D   g = 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   g = 8   (new)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502152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   g =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 (cost 6). C is not the goal, so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expand C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. Add S → A → C → G (8). (A, D already expanded: not added.)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6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(skip):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D → C   (g = 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B → D   g =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A → C → G   g = 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72384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   g =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D → C (cost 6).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 was already expanded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graph search discards this entry.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7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(skip):  </a:t>
            </a:r>
            <a:r>
              <a:rPr sz="2200" b="1" i="0">
                <a:solidFill>
                  <a:srgbClr val="C00000"/>
                </a:solidFill>
                <a:latin typeface="Calibri"/>
              </a:rPr>
              <a:t>S → B → D   (g = 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A → C → G   g =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642615"/>
            <a:ext cx="4206240" cy="3657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S → D → G   g =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B → D (cost 7).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D was already expanded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graph search discards this entry.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Worked Example (step 8 of 8)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C0000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0" y="5568696"/>
            <a:ext cx="237744" cy="237744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 fringe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5686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Not reached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5959"/>
                </a:solidFill>
                <a:latin typeface="Calibri"/>
              </a:rPr>
              <a:t>Popped (goal!):  </a:t>
            </a:r>
            <a:r>
              <a:rPr sz="2200" b="1" i="0">
                <a:solidFill>
                  <a:srgbClr val="008A3E"/>
                </a:solidFill>
                <a:latin typeface="Calibri"/>
              </a:rPr>
              <a:t>S → A → C → G   (g = 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3864"/>
                </a:solidFill>
                <a:latin typeface="Calibri"/>
              </a:rPr>
              <a:t>Fringe: Priority queue: cheapest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2212848"/>
            <a:ext cx="4206240" cy="365760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 → D → G   g =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31136"/>
            <a:ext cx="731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next 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Expanded: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S, A, B, D, C, 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Pop S → A → C → G (cost 8).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G is the goal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so return this path. Total cost = 8.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UCS: expand the cheapest node first  ·  fringe = priority queue on path cost g(n)  ·  ties alphabetical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UCS Result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51800" y="1895890"/>
            <a:ext cx="822479" cy="917379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80160" y="21717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91839"/>
            <a:ext cx="0" cy="1234441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0635" y="3146783"/>
            <a:ext cx="2853649" cy="1524553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4579" y="37261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1607" y="1863006"/>
            <a:ext cx="1400385" cy="1120307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88920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800600"/>
            <a:ext cx="27889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54579" y="4617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8559" y="3423956"/>
            <a:ext cx="215321" cy="1107367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3339" y="379475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092646" y="2055160"/>
            <a:ext cx="1050147" cy="918879"/>
          </a:xfrm>
          <a:prstGeom prst="line">
            <a:avLst/>
          </a:prstGeom>
          <a:ln w="635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34840" y="23317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06051" y="2130037"/>
            <a:ext cx="943377" cy="2415045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4859" y="315467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1600199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1" name="Oval 20"/>
          <p:cNvSpPr/>
          <p:nvPr/>
        </p:nvSpPr>
        <p:spPr>
          <a:xfrm>
            <a:off x="594359" y="274320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2880360"/>
            <a:ext cx="548640" cy="548640"/>
          </a:xfrm>
          <a:prstGeom prst="ellipse">
            <a:avLst/>
          </a:prstGeom>
          <a:solidFill>
            <a:srgbClr val="008A3E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594359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3931920" y="4526280"/>
            <a:ext cx="548640" cy="548640"/>
          </a:xfrm>
          <a:prstGeom prst="ellipse">
            <a:avLst/>
          </a:prstGeom>
          <a:solidFill>
            <a:srgbClr val="1F3864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68696"/>
            <a:ext cx="237744" cy="237744"/>
          </a:xfrm>
          <a:prstGeom prst="ellipse">
            <a:avLst/>
          </a:prstGeom>
          <a:solidFill>
            <a:srgbClr val="008A3E"/>
          </a:solidFill>
          <a:ln w="254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Returned path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568696"/>
            <a:ext cx="237744" cy="237744"/>
          </a:xfrm>
          <a:prstGeom prst="ellipse">
            <a:avLst/>
          </a:prstGeom>
          <a:solidFill>
            <a:srgbClr val="1F386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513832"/>
            <a:ext cx="1143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Expanded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25880"/>
            <a:ext cx="539496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Expansion order: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S, A, B, D, C,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Path returned: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 → A → C → G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Cost: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2 + 4 + 2 = 8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Actions: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539496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UCS returns the </a:t>
            </a:r>
            <a:r>
              <a:rPr sz="1700" b="1" i="0">
                <a:solidFill>
                  <a:srgbClr val="000000"/>
                </a:solidFill>
                <a:latin typeface="Calibri"/>
              </a:rPr>
              <a:t>cheapest path</a:t>
            </a:r>
            <a:r>
              <a:rPr sz="1700" b="0" i="0">
                <a:solidFill>
                  <a:srgbClr val="000000"/>
                </a:solidFill>
                <a:latin typeface="Calibri"/>
              </a:rPr>
              <a:t> (cost 8).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It expanded every state reachable for less than 8 before reaching G.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Notice S → D → G (cost 10) sat on the fringe, but a cheaper path reached G first.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Empty UCS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0286" y="1143001"/>
            <a:ext cx="6351429" cy="53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2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Video of Demo Maze with Deep/Shallow Water --- DFS, BFS, or UCS? (part 1)</a:t>
            </a:r>
          </a:p>
        </p:txBody>
      </p:sp>
      <p:pic>
        <p:nvPicPr>
          <p:cNvPr id="3" name="MazeShallowDeep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3857" y="1151450"/>
            <a:ext cx="7204286" cy="53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2)</a:t>
            </a:r>
          </a:p>
        </p:txBody>
      </p:sp>
      <p:pic>
        <p:nvPicPr>
          <p:cNvPr id="2" name="MazeShallowDeep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3" y="1143001"/>
            <a:ext cx="7215715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2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3)</a:t>
            </a:r>
          </a:p>
        </p:txBody>
      </p:sp>
      <p:pic>
        <p:nvPicPr>
          <p:cNvPr id="2" name="MazeShallowDeep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2" y="1143001"/>
            <a:ext cx="721571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0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Same Graph, Three Strategies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Fringe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Expansion order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Path returned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DFS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S, A, C, D, B, 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 → A → C → D → 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Queue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S, A, B, D, C, 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 → D → 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UCS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Priority queue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S, A, B, D, C, G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 → A → C → G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290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Complete?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Optimal?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DFS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Only if depth is finite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Only if costs are equal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Only if costs are equal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UCS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Yes*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Yes*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O(b^(C*/ε))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O(b^(C*/ε))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b = branching factor, m = max depth, s = depth of shallowest goal, C* = optimal cost, ε = smallest step cost.  * if every step cost ≥ ε &gt; 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One Queue</a:t>
            </a:r>
          </a:p>
        </p:txBody>
      </p:sp>
      <p:sp>
        <p:nvSpPr>
          <p:cNvPr id="29711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1443036"/>
            <a:ext cx="5842000" cy="4729164"/>
          </a:xfrm>
        </p:spPr>
        <p:txBody>
          <a:bodyPr/>
          <a:lstStyle/>
          <a:p>
            <a:pPr eaLnBrk="1" hangingPunct="1"/>
            <a:r>
              <a:rPr lang="en-US" sz="2800" dirty="0"/>
              <a:t>All these search algorithms are the same except for fringe strategies</a:t>
            </a:r>
          </a:p>
          <a:p>
            <a:pPr lvl="1"/>
            <a:r>
              <a:rPr lang="en-US" sz="2400" dirty="0"/>
              <a:t>Conceptually, all fringes are priority queues (i.e. collections of nodes with attached priorities)</a:t>
            </a:r>
          </a:p>
          <a:p>
            <a:pPr lvl="1"/>
            <a:r>
              <a:rPr lang="en-US" sz="2400" dirty="0"/>
              <a:t>Practically, for DFS and BFS, you can avoid the log(n) overhead from an actual priority queue, by using stacks and queues</a:t>
            </a:r>
          </a:p>
          <a:p>
            <a:pPr lvl="1"/>
            <a:r>
              <a:rPr lang="en-US" sz="2400" dirty="0"/>
              <a:t>Can even code one implementation that takes a variable queuing object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7900" y="1296458"/>
            <a:ext cx="5753099" cy="44746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66039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Models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400" y="1524000"/>
            <a:ext cx="4699000" cy="4729164"/>
          </a:xfrm>
        </p:spPr>
        <p:txBody>
          <a:bodyPr/>
          <a:lstStyle/>
          <a:p>
            <a:r>
              <a:rPr lang="en-US" dirty="0"/>
              <a:t>Search operates over models of the world</a:t>
            </a:r>
          </a:p>
          <a:p>
            <a:pPr lvl="1"/>
            <a:r>
              <a:rPr lang="en-US" dirty="0"/>
              <a:t>The agent doesn’t actually try all the plans out in the real world!</a:t>
            </a:r>
          </a:p>
          <a:p>
            <a:pPr lvl="1"/>
            <a:r>
              <a:rPr lang="en-US" dirty="0"/>
              <a:t>Planning is all “in simulation”</a:t>
            </a:r>
          </a:p>
          <a:p>
            <a:pPr lvl="1"/>
            <a:r>
              <a:rPr lang="en-US" dirty="0"/>
              <a:t>Your search is only as good as your models…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5391" y="1532614"/>
            <a:ext cx="6552150" cy="45547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Gone Wrong?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814084" name="Picture 4" descr="A Dead 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4800600" cy="383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4085" name="Picture 5" descr="msn-navigation-trondheim-haugesund"/>
          <p:cNvPicPr>
            <a:picLocks noChangeAspect="1" noChangeArrowheads="1"/>
          </p:cNvPicPr>
          <p:nvPr/>
        </p:nvPicPr>
        <p:blipFill>
          <a:blip r:embed="rId3" cstate="print"/>
          <a:srcRect t="53906"/>
          <a:stretch>
            <a:fillRect/>
          </a:stretch>
        </p:blipFill>
        <p:spPr bwMode="auto">
          <a:xfrm>
            <a:off x="6934200" y="1371600"/>
            <a:ext cx="43815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997" y="2134187"/>
            <a:ext cx="6474205" cy="27115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Your Turn: Practice Problem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852811" y="1680660"/>
            <a:ext cx="1174737" cy="15307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57300" y="226313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429000"/>
            <a:ext cx="96012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57300" y="32461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2811" y="3646620"/>
            <a:ext cx="1174737" cy="15307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57300" y="42291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2027" y="1653455"/>
            <a:ext cx="885225" cy="85360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51759" y="18973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2079" y="1581299"/>
            <a:ext cx="3619761" cy="1729441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562855" y="249905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32736" y="2833580"/>
            <a:ext cx="803807" cy="4593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51759" y="28803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32736" y="3565100"/>
            <a:ext cx="803807" cy="4593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51759" y="36118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442079" y="3547259"/>
            <a:ext cx="3619761" cy="1729441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62855" y="39931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2971800"/>
            <a:ext cx="0" cy="91440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291839" y="32461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40337" y="2766026"/>
            <a:ext cx="2303405" cy="594427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67428" y="28437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740337" y="3497546"/>
            <a:ext cx="2303405" cy="594427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67428" y="364845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S</a:t>
            </a:r>
          </a:p>
        </p:txBody>
      </p:sp>
      <p:sp>
        <p:nvSpPr>
          <p:cNvPr id="26" name="Oval 25"/>
          <p:cNvSpPr/>
          <p:nvPr/>
        </p:nvSpPr>
        <p:spPr>
          <a:xfrm>
            <a:off x="1920240" y="11887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192024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1920240" y="512064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0" y="24231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0" y="388620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E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371600"/>
            <a:ext cx="46634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This graph is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directed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: follow the arrows.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For </a:t>
            </a:r>
            <a:r>
              <a:rPr sz="1900" b="1" i="0">
                <a:solidFill>
                  <a:srgbClr val="000000"/>
                </a:solidFill>
                <a:latin typeface="Calibri"/>
              </a:rPr>
              <a:t>DFS, BFS, and UCS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(graph search, ties alphabetical, goal test on pop):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1.  In what order are states expanded?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2.  Which path is returned, and what does it cost?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C00000"/>
                </a:solidFill>
                <a:latin typeface="Calibri"/>
              </a:rPr>
              <a:t>Work in pairs for 10 minutes, then we compare answers.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Practice Problem: Solution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852811" y="1680660"/>
            <a:ext cx="1174737" cy="15307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57300" y="226313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429000"/>
            <a:ext cx="960120" cy="0"/>
          </a:xfrm>
          <a:prstGeom prst="line">
            <a:avLst/>
          </a:prstGeom>
          <a:ln w="57150">
            <a:solidFill>
              <a:srgbClr val="00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57300" y="32461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2811" y="3646620"/>
            <a:ext cx="1174737" cy="15307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57300" y="42291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2027" y="1653455"/>
            <a:ext cx="885225" cy="85360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51759" y="18973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2079" y="1581299"/>
            <a:ext cx="3619761" cy="1729441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562855" y="249905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32736" y="2833580"/>
            <a:ext cx="803807" cy="459319"/>
          </a:xfrm>
          <a:prstGeom prst="line">
            <a:avLst/>
          </a:prstGeom>
          <a:ln w="57150">
            <a:solidFill>
              <a:srgbClr val="00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51759" y="28803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32736" y="3565100"/>
            <a:ext cx="803807" cy="4593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51759" y="36118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442079" y="3547259"/>
            <a:ext cx="3619761" cy="1729441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62855" y="39931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2971800"/>
            <a:ext cx="0" cy="914400"/>
          </a:xfrm>
          <a:prstGeom prst="line">
            <a:avLst/>
          </a:prstGeom>
          <a:ln w="57150">
            <a:solidFill>
              <a:srgbClr val="00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291839" y="32461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40337" y="2766026"/>
            <a:ext cx="2303405" cy="594427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67428" y="28437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740337" y="3497546"/>
            <a:ext cx="2303405" cy="594427"/>
          </a:xfrm>
          <a:prstGeom prst="line">
            <a:avLst/>
          </a:prstGeom>
          <a:ln w="57150">
            <a:solidFill>
              <a:srgbClr val="00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67428" y="364845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08A3E"/>
                </a:solidFill>
                <a:latin typeface="Calibri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S</a:t>
            </a:r>
          </a:p>
        </p:txBody>
      </p:sp>
      <p:sp>
        <p:nvSpPr>
          <p:cNvPr id="26" name="Oval 25"/>
          <p:cNvSpPr/>
          <p:nvPr/>
        </p:nvSpPr>
        <p:spPr>
          <a:xfrm>
            <a:off x="1920240" y="11887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192024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1920240" y="512064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0" y="242316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0" y="388620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E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315468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325880"/>
            <a:ext cx="466344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DFS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Expanded: S, A, D, E, G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Path: S → A → D → E → G   cost 7</a:t>
            </a:r>
          </a:p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BFS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Expanded: S, A, B, C, D, G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Path: S → A → G   cost 13</a:t>
            </a:r>
          </a:p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UCS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Expanded: S, A, B, D, E, G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Path: S → B → D → E → G   cost 6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08A3E"/>
                </a:solidFill>
                <a:latin typeface="Calibri"/>
              </a:rPr>
              <a:t>Only UCS finds the cheapest path (green).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Homework 0: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Released today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in the course repo: hw/hw0.  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Due Saturday, 21 November 2026, 11:59 PM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Guyana time.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Covers Weeks 2 and 3: problem formulation, uninformed search, and informed search (A* and heuristics).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A. Pac-Man Search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  25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352"/>
            <a:ext cx="51206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Implement DFS, BFS, UCS, A*, and heuristics (autograded Q1–Q8). Q1–Q3 use today’s material.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237744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B. Written Problems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  25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816352"/>
            <a:ext cx="51206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Search theory, proofs about heuristics, and a hand trace on the Guyana road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79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C. Route Planning in Guyana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  30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07992"/>
            <a:ext cx="51206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Model a real Guyanese road network as a search problem, then run experiments (autograded Q9–Q10).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79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D. Search vs. LLMs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  15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07992"/>
            <a:ext cx="51206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Give the same problems to an LLM and compare its answers with A*.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00000"/>
                </a:solidFill>
                <a:latin typeface="Calibri"/>
              </a:rPr>
              <a:t>Plus 5 pts for submission quality: Git history, PR description, and GenAI log.  Start with Q1–Q3 now. Setting up Python and Git takes time.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Getting Started and Submitting HW0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300" b="1" i="0">
                <a:solidFill>
                  <a:srgbClr val="000000"/>
                </a:solidFill>
                <a:latin typeface="Calibri"/>
              </a:rPr>
              <a:t>Fork</a:t>
            </a:r>
            <a:r>
              <a:rPr sz="2300" b="0" i="0">
                <a:solidFill>
                  <a:srgbClr val="000000"/>
                </a:solidFill>
                <a:latin typeface="Calibri"/>
              </a:rPr>
              <a:t> ChrisIsKing/MAI5100 and clone your fork. You need Python 3.10+ and Git</a:t>
            </a:r>
          </a:p>
          <a:p>
            <a:r>
              <a:rPr sz="2300" b="0" i="0">
                <a:solidFill>
                  <a:srgbClr val="000000"/>
                </a:solidFill>
                <a:latin typeface="Calibri"/>
              </a:rPr>
              <a:t>Copy the starter code into your own folder:</a:t>
            </a:r>
          </a:p>
          <a:p>
            <a:pPr lvl="1"/>
            <a:r>
              <a:rPr sz="1900" b="0" i="0">
                <a:solidFill>
                  <a:srgbClr val="000000"/>
                </a:solidFill>
                <a:latin typeface="Calibri"/>
              </a:rPr>
              <a:t>hw/hw0/submissions/firstname_lastname/src  and  written.md</a:t>
            </a:r>
          </a:p>
          <a:p>
            <a:r>
              <a:rPr sz="2300" b="0" i="0">
                <a:solidFill>
                  <a:srgbClr val="000000"/>
                </a:solidFill>
                <a:latin typeface="Calibri"/>
              </a:rPr>
              <a:t>Check your setup: python autograder.py --no-graphics (0 points at first is expected)</a:t>
            </a:r>
          </a:p>
          <a:p>
            <a:r>
              <a:rPr sz="2300" b="1" i="0">
                <a:solidFill>
                  <a:srgbClr val="000000"/>
                </a:solidFill>
                <a:latin typeface="Calibri"/>
              </a:rPr>
              <a:t>Commit often</a:t>
            </a:r>
            <a:r>
              <a:rPr sz="2300" b="0" i="0">
                <a:solidFill>
                  <a:srgbClr val="000000"/>
                </a:solidFill>
                <a:latin typeface="Calibri"/>
              </a:rPr>
              <a:t> with clear messages. Your Git history is graded</a:t>
            </a:r>
          </a:p>
          <a:p>
            <a:r>
              <a:rPr sz="2300" b="0" i="0">
                <a:solidFill>
                  <a:srgbClr val="000000"/>
                </a:solidFill>
                <a:latin typeface="Calibri"/>
              </a:rPr>
              <a:t>Open a </a:t>
            </a:r>
            <a:r>
              <a:rPr sz="2300" b="1" i="0">
                <a:solidFill>
                  <a:srgbClr val="000000"/>
                </a:solidFill>
                <a:latin typeface="Calibri"/>
              </a:rPr>
              <a:t>pull request</a:t>
            </a:r>
            <a:r>
              <a:rPr sz="2300" b="0" i="0">
                <a:solidFill>
                  <a:srgbClr val="000000"/>
                </a:solidFill>
                <a:latin typeface="Calibri"/>
              </a:rPr>
              <a:t> titled “HW0: Firstname Lastname” and fill in the PR template</a:t>
            </a:r>
          </a:p>
          <a:p>
            <a:pPr lvl="1"/>
            <a:r>
              <a:rPr sz="1900" b="0" i="0">
                <a:solidFill>
                  <a:srgbClr val="000000"/>
                </a:solidFill>
                <a:latin typeface="Calibri"/>
              </a:rPr>
              <a:t>Autograder output, checklist, and reflection questions</a:t>
            </a:r>
          </a:p>
          <a:p>
            <a:r>
              <a:rPr sz="2300" b="0" i="0">
                <a:solidFill>
                  <a:srgbClr val="000000"/>
                </a:solidFill>
                <a:latin typeface="Calibri"/>
              </a:rPr>
              <a:t>Generative AI may be used as a collaborator, but </a:t>
            </a:r>
            <a:r>
              <a:rPr sz="2300" b="1" i="0">
                <a:solidFill>
                  <a:srgbClr val="000000"/>
                </a:solidFill>
                <a:latin typeface="Calibri"/>
              </a:rPr>
              <a:t>log every use</a:t>
            </a:r>
            <a:r>
              <a:rPr sz="2300" b="0" i="0">
                <a:solidFill>
                  <a:srgbClr val="000000"/>
                </a:solidFill>
                <a:latin typeface="Calibri"/>
              </a:rPr>
              <a:t> in written.md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Before Next Class (14 November)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 i="0">
                <a:solidFill>
                  <a:srgbClr val="000000"/>
                </a:solidFill>
                <a:latin typeface="Calibri"/>
              </a:rPr>
              <a:t>Read Russell &amp; Norvig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Chapter 3.1–3.4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; skim 3.5 for a preview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Set up HW0 and finish </a:t>
            </a:r>
            <a:r>
              <a:rPr sz="2600" b="1" i="0">
                <a:solidFill>
                  <a:srgbClr val="000000"/>
                </a:solidFill>
                <a:latin typeface="Calibri"/>
              </a:rPr>
              <a:t>Part A, Q1–Q3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: DFS, BFS, and UCS in Pac-Man</a:t>
            </a:r>
          </a:p>
          <a:p>
            <a:r>
              <a:rPr sz="2600" b="0" i="0">
                <a:solidFill>
                  <a:srgbClr val="000000"/>
                </a:solidFill>
                <a:latin typeface="Calibri"/>
              </a:rPr>
              <a:t>Redo today’s practice problem on your own</a:t>
            </a:r>
          </a:p>
          <a:p>
            <a:r>
              <a:rPr sz="2600" b="1" i="0">
                <a:solidFill>
                  <a:srgbClr val="000000"/>
                </a:solidFill>
                <a:latin typeface="Calibri"/>
              </a:rPr>
              <a:t>Next lecture:</a:t>
            </a:r>
            <a:r>
              <a:rPr sz="2600" b="0" i="0">
                <a:solidFill>
                  <a:srgbClr val="000000"/>
                </a:solidFill>
                <a:latin typeface="Calibri"/>
              </a:rPr>
              <a:t> informed search. Can we use knowledge about where the goal is to search faster?</a:t>
            </a:r>
          </a:p>
          <a:p>
            <a:pPr lvl="1"/>
            <a:r>
              <a:rPr sz="2200" b="0" i="0">
                <a:solidFill>
                  <a:srgbClr val="000000"/>
                </a:solidFill>
                <a:latin typeface="Calibri"/>
              </a:rPr>
              <a:t>Heuristics, greedy search, and A*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i="0">
                <a:solidFill>
                  <a:srgbClr val="000000"/>
                </a:solidFill>
                <a:latin typeface="Calibri"/>
              </a:rPr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Slides adapted from </a:t>
            </a:r>
            <a:r>
              <a:rPr sz="2200" b="1" i="0">
                <a:solidFill>
                  <a:srgbClr val="000000"/>
                </a:solidFill>
                <a:latin typeface="Calibri"/>
              </a:rPr>
              <a:t>UC Berkeley CS 188: Introduction to Artificial Intelligence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(Dan Klein, Pieter Abbeel, and the CS 188 staff)</a:t>
            </a:r>
          </a:p>
          <a:p>
            <a:r>
              <a:rPr sz="2200" b="0" i="0">
                <a:solidFill>
                  <a:srgbClr val="000000"/>
                </a:solidFill>
                <a:latin typeface="Calibri"/>
              </a:rPr>
              <a:t>Worked example graph from CS 188 Fall 2026, Discussion 1</a:t>
            </a:r>
          </a:p>
          <a:p>
            <a:r>
              <a:rPr sz="2200" b="0" i="0">
                <a:solidFill>
                  <a:srgbClr val="000000"/>
                </a:solidFill>
                <a:latin typeface="Calibri"/>
              </a:rPr>
              <a:t>Homework 0 Part A is adapted from the CS 188 Pac-Man search project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8140</Words>
  <Application>Microsoft Macintosh PowerPoint</Application>
  <PresentationFormat>Widescreen</PresentationFormat>
  <Paragraphs>1755</Paragraphs>
  <Slides>103</Slides>
  <Notes>11</Notes>
  <HiddenSlides>0</HiddenSlides>
  <MMClips>10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2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dan-berkeley-nlp-v1</vt:lpstr>
      <vt:lpstr>Photo Editor Photo</vt:lpstr>
      <vt:lpstr>MAI 5100: Fundamentals of AI</vt:lpstr>
      <vt:lpstr>Announcements</vt:lpstr>
      <vt:lpstr>Recap: Week 1</vt:lpstr>
      <vt:lpstr>Today</vt:lpstr>
      <vt:lpstr>Intelligent Agents</vt:lpstr>
      <vt:lpstr>Good Behavior: The Concept of Rationality</vt:lpstr>
      <vt:lpstr>Specifying the Task Environment: PEAS</vt:lpstr>
      <vt:lpstr>PEAS Examples</vt:lpstr>
      <vt:lpstr>Properties of Task Environments</vt:lpstr>
      <vt:lpstr>Classify These Environments</vt:lpstr>
      <vt:lpstr>Classify These Environments: Answers</vt:lpstr>
      <vt:lpstr>Types of Agents: Simple Reflex</vt:lpstr>
      <vt:lpstr>Model-Based and Goal-Based Agents</vt:lpstr>
      <vt:lpstr>Utility-Based and Learning Agents</vt:lpstr>
      <vt:lpstr>Problem-Solving Agents</vt:lpstr>
      <vt:lpstr>Agents that Plan</vt:lpstr>
      <vt:lpstr>Reflex Agents</vt:lpstr>
      <vt:lpstr>Video of Demo Reflex Optimal</vt:lpstr>
      <vt:lpstr>Video of Demo Reflex Odd </vt:lpstr>
      <vt:lpstr>Planning Agents</vt:lpstr>
      <vt:lpstr>Video of Demo Replanning</vt:lpstr>
      <vt:lpstr>Video of Demo Mastermind</vt:lpstr>
      <vt:lpstr>Search Problems</vt:lpstr>
      <vt:lpstr>Search Problems</vt:lpstr>
      <vt:lpstr>Search Problems Are Models</vt:lpstr>
      <vt:lpstr>Example: Traveling in Romania</vt:lpstr>
      <vt:lpstr>What’s in a State Space?</vt:lpstr>
      <vt:lpstr>State Space Sizes?</vt:lpstr>
      <vt:lpstr>Quiz: Safe Passage</vt:lpstr>
      <vt:lpstr>Worked Example: Formulating a Search Problem</vt:lpstr>
      <vt:lpstr>Water Jugs: Breadth-First Search Finds a Shortest Plan</vt:lpstr>
      <vt:lpstr>State Space Graphs and Search Trees</vt:lpstr>
      <vt:lpstr>State Space Graphs</vt:lpstr>
      <vt:lpstr>State Space Graphs</vt:lpstr>
      <vt:lpstr>Search Trees</vt:lpstr>
      <vt:lpstr>State Space Graphs vs. Search Trees</vt:lpstr>
      <vt:lpstr>Quiz: State Space Graphs vs. Search Trees</vt:lpstr>
      <vt:lpstr>Tree Search</vt:lpstr>
      <vt:lpstr>Search Example: Romania</vt:lpstr>
      <vt:lpstr>Searching with a Search Tree</vt:lpstr>
      <vt:lpstr>General Tree Search</vt:lpstr>
      <vt:lpstr>Example: Tree Search</vt:lpstr>
      <vt:lpstr>Tree Search vs. Graph Search</vt:lpstr>
      <vt:lpstr>Worked Example Graph</vt:lpstr>
      <vt:lpstr>Depth-First Search</vt:lpstr>
      <vt:lpstr>Depth-First Search</vt:lpstr>
      <vt:lpstr>Search Algorithm Properties</vt:lpstr>
      <vt:lpstr>Search Algorithm Properties</vt:lpstr>
      <vt:lpstr>Depth-First Search (DFS) Properties</vt:lpstr>
      <vt:lpstr>DFS Worked Example (step 0 of 6)</vt:lpstr>
      <vt:lpstr>DFS Worked Example (step 1 of 6)</vt:lpstr>
      <vt:lpstr>DFS Worked Example (step 2 of 6)</vt:lpstr>
      <vt:lpstr>DFS Worked Example (step 3 of 6)</vt:lpstr>
      <vt:lpstr>DFS Worked Example (step 4 of 6)</vt:lpstr>
      <vt:lpstr>DFS Worked Example (step 5 of 6)</vt:lpstr>
      <vt:lpstr>DFS Worked Example (step 6 of 6)</vt:lpstr>
      <vt:lpstr>DFS Result</vt:lpstr>
      <vt:lpstr>Breadth-First Search</vt:lpstr>
      <vt:lpstr>Breadth-First Search</vt:lpstr>
      <vt:lpstr>Breadth-First Search (BFS) Properties</vt:lpstr>
      <vt:lpstr>BFS Worked Example (step 1 of 8)</vt:lpstr>
      <vt:lpstr>BFS Worked Example (step 2 of 8)</vt:lpstr>
      <vt:lpstr>BFS Worked Example (step 3 of 8)</vt:lpstr>
      <vt:lpstr>BFS Worked Example (step 4 of 8)</vt:lpstr>
      <vt:lpstr>BFS Worked Example (step 5 of 8)</vt:lpstr>
      <vt:lpstr>BFS Worked Example (step 6 of 8)</vt:lpstr>
      <vt:lpstr>BFS Worked Example (step 7 of 8)</vt:lpstr>
      <vt:lpstr>BFS Worked Example (step 8 of 8)</vt:lpstr>
      <vt:lpstr>BFS Result</vt:lpstr>
      <vt:lpstr>Quiz: DFS vs BFS</vt:lpstr>
      <vt:lpstr>Quiz: DFS vs BFS</vt:lpstr>
      <vt:lpstr>Video of Demo Maze Water DFS/BFS (part 1)</vt:lpstr>
      <vt:lpstr>Video of Demo Maze Water DFS/BFS (part 2)</vt:lpstr>
      <vt:lpstr>Iterative Deepening</vt:lpstr>
      <vt:lpstr>Iterative Deepening: Worked Example</vt:lpstr>
      <vt:lpstr>Cost-Sensitive Search</vt:lpstr>
      <vt:lpstr>Uniform Cost Search</vt:lpstr>
      <vt:lpstr>Uniform Cost Search</vt:lpstr>
      <vt:lpstr>Uniform Cost Search (UCS) Properties</vt:lpstr>
      <vt:lpstr>Uniform Cost Issues</vt:lpstr>
      <vt:lpstr>UCS Worked Example (step 1 of 8)</vt:lpstr>
      <vt:lpstr>UCS Worked Example (step 2 of 8)</vt:lpstr>
      <vt:lpstr>UCS Worked Example (step 3 of 8)</vt:lpstr>
      <vt:lpstr>UCS Worked Example (step 4 of 8)</vt:lpstr>
      <vt:lpstr>UCS Worked Example (step 5 of 8)</vt:lpstr>
      <vt:lpstr>UCS Worked Example (step 6 of 8)</vt:lpstr>
      <vt:lpstr>UCS Worked Example (step 7 of 8)</vt:lpstr>
      <vt:lpstr>UCS Worked Example (step 8 of 8)</vt:lpstr>
      <vt:lpstr>UCS Result</vt:lpstr>
      <vt:lpstr>Video of Demo Empty UCS</vt:lpstr>
      <vt:lpstr>Video of Demo Maze with Deep/Shallow Water --- DFS, BFS, or UCS? (part 1)</vt:lpstr>
      <vt:lpstr>Video of Demo Maze with Deep/Shallow Water --- DFS, BFS, or UCS? (part 2)</vt:lpstr>
      <vt:lpstr>Video of Demo Maze with Deep/Shallow Water --- DFS, BFS, or UCS? (part 3)</vt:lpstr>
      <vt:lpstr>Same Graph, Three Strategies</vt:lpstr>
      <vt:lpstr>The One Queue</vt:lpstr>
      <vt:lpstr>Search and Models</vt:lpstr>
      <vt:lpstr>Search Gone Wrong?</vt:lpstr>
      <vt:lpstr>Your Turn: Practice Problem</vt:lpstr>
      <vt:lpstr>Practice Problem: Solution</vt:lpstr>
      <vt:lpstr>Homework 0: Search</vt:lpstr>
      <vt:lpstr>Getting Started and Submitting HW0</vt:lpstr>
      <vt:lpstr>Before Next Class (14 November)</vt:lpstr>
      <vt:lpstr>Acknowledgements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 5100 - Fundamentals of AI</dc:title>
  <dc:subject>PptxGenJS Presentation</dc:subject>
  <dc:creator>Created by Marp</dc:creator>
  <cp:lastModifiedBy>Christopher Clarke</cp:lastModifiedBy>
  <cp:revision>4</cp:revision>
  <dcterms:created xsi:type="dcterms:W3CDTF">2025-03-08T14:45:17Z</dcterms:created>
  <dcterms:modified xsi:type="dcterms:W3CDTF">2026-10-31T08:31:47Z</dcterms:modified>
</cp:coreProperties>
</file>